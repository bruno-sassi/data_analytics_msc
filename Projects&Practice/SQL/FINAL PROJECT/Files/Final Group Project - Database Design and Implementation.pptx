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8" r:id="rId4"/>
    <p:sldId id="269" r:id="rId5"/>
    <p:sldId id="277" r:id="rId6"/>
    <p:sldId id="270" r:id="rId7"/>
    <p:sldId id="271" r:id="rId8"/>
    <p:sldId id="272" r:id="rId9"/>
    <p:sldId id="273" r:id="rId10"/>
    <p:sldId id="278" r:id="rId11"/>
    <p:sldId id="276" r:id="rId12"/>
    <p:sldId id="279" r:id="rId13"/>
    <p:sldId id="280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87"/>
    <a:srgbClr val="00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3D7888-2B9A-457A-868B-EDCE0FB51D77}" v="25" dt="2025-03-24T08:05:36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6" autoAdjust="0"/>
    <p:restoredTop sz="94980" autoAdjust="0"/>
  </p:normalViewPr>
  <p:slideViewPr>
    <p:cSldViewPr snapToGrid="0">
      <p:cViewPr varScale="1">
        <p:scale>
          <a:sx n="84" d="100"/>
          <a:sy n="84" d="100"/>
        </p:scale>
        <p:origin x="5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61CE4-BB05-4965-A55C-E9732BCBAF42}" type="datetimeFigureOut">
              <a:rPr lang="en-CA" smtClean="0"/>
              <a:t>2025-03-24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AF780-8423-4125-BD97-E6FF2D5825A1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274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A3AC-B376-2F25-EB79-C5B33C22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500FD-93F1-B5A4-0F03-B97DD6821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1CD6F-DFEB-A6FB-198E-02E1A438E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D2023-8A3A-2598-FE7B-07DD0A391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6963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D665-48BE-DB12-8D2F-20F4CD3EC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792AE-C9C4-5B36-23C9-69BF2AACF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52F90-BD2A-9F7C-D266-CD21CAA08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EAC16-2F62-EC28-A269-5F83DA344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1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279B-C30B-EA71-C13B-FA05AB15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5ED38-4D37-62B0-896E-A70624E48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9CF02-89C9-6BE6-3536-BCFBAE5FA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15F46-0209-C060-D562-434447648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067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8CC1-CA5C-162D-B89E-296FE689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22BB5-E0DE-2404-2F3E-AD4886D34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9CF5E-DECC-359E-91CA-DE7D86559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1ECE7-6D77-EB92-E15B-20322C3B2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486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1995-3B1C-85D1-013C-570AF58E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8E0F1-72C7-5240-F0DD-32C1F86EC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CF316-97A8-9D91-82C3-B5077B66C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C6DA8-0F85-CAE0-C9D7-22EAA1ACB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3060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E26E-348E-AA6D-0339-B5D60B2E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3A805-2AFD-6F42-0E14-D99F14B7B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5B320-6D52-C17A-EFE0-48B92293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E10F4-7A9E-99C6-6D63-A7624CDF9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8735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AC37-53CE-D647-6FEE-8E4DCE47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8B77A-29A6-567D-D952-DF3E73853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3126F-667C-49B7-3BCE-64870178D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F18F8-A9B2-A3CA-37EC-674D1AD18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333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1AE4-7C5F-8976-198F-1F45D708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CD083-1ADD-A0D2-4CF2-D6E88F348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4165A-000D-DB22-AA08-BCBA939B9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8FE80-CB59-44EA-0008-CC7BEED4B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7667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F2AD-E688-A723-39F8-64A03847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56E43-E6BB-0A50-2A13-00DB22F77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2C43D-A3DE-B52C-E282-328D0E800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802FA-8DE1-AAA6-9D9A-5D0629AA0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3190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7A06F-1777-D272-D4ED-BA252E18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28E05-BF76-D39B-E339-81644A1C4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E36EC-8183-5967-0154-AAB8A1102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0CD55-9455-6497-6BF3-FFDFF104F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974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341B-9036-AA2B-7239-78BB006F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0571A-6307-F81C-6BCC-C1B94C4EF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8D7C5-93AA-37A5-D717-2272CABE5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9F82E-70C3-4583-A95D-48F9D324F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5853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0C309-29D0-AAC9-2EFC-8EEBD44E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B7D31-07D6-9615-B058-0A3E6E9D5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3C460-CFF9-6EA3-AF67-788A76CCB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6CFCE-5AC5-BF42-F084-39BCCDC7F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AF780-8423-4125-BD97-E6FF2D5825A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2064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0FAC-6693-BF16-38C0-FA4F916FF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9CB25-DF56-58C0-EBC6-DE5CA738C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1413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DF8E-80B6-76BD-D9A3-7F53FA47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225"/>
            <a:ext cx="9156700" cy="5873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DA30-DC58-8398-08D5-43F35E1E3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567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3834941-83E5-20E6-7517-B6AC2D83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3159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00B1E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OPTIONAL SECTION NAME</a:t>
            </a:r>
          </a:p>
        </p:txBody>
      </p:sp>
    </p:spTree>
    <p:extLst>
      <p:ext uri="{BB962C8B-B14F-4D97-AF65-F5344CB8AC3E}">
        <p14:creationId xmlns:p14="http://schemas.microsoft.com/office/powerpoint/2010/main" val="131312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61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09D7-6672-8628-1BF0-14EEDB97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58738"/>
            <a:ext cx="5840412" cy="1600200"/>
          </a:xfrm>
          <a:prstGeom prst="rect">
            <a:avLst/>
          </a:prstGeom>
        </p:spPr>
        <p:txBody>
          <a:bodyPr anchor="b"/>
          <a:lstStyle>
            <a:lvl1pPr>
              <a:defRPr sz="3200" b="1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0AC20-23D3-6D4B-C919-FFCFE523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2"/>
            <a:ext cx="5065712" cy="4389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F9743-313B-14ED-1392-BABF6A659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49462"/>
            <a:ext cx="393223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346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66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arge waterfall with a large body of water&#10;&#10;Description automatically generated">
            <a:extLst>
              <a:ext uri="{FF2B5EF4-FFF2-40B4-BE49-F238E27FC236}">
                <a16:creationId xmlns:a16="http://schemas.microsoft.com/office/drawing/2014/main" id="{C8B88B7B-9DB3-11CC-B77A-0982193A97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0582B30-8681-7750-DE89-FDBF7DAA1147}"/>
              </a:ext>
            </a:extLst>
          </p:cNvPr>
          <p:cNvSpPr txBox="1">
            <a:spLocks/>
          </p:cNvSpPr>
          <p:nvPr/>
        </p:nvSpPr>
        <p:spPr>
          <a:xfrm>
            <a:off x="2919933" y="5060058"/>
            <a:ext cx="5766867" cy="815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0056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Flows Here.</a:t>
            </a:r>
          </a:p>
        </p:txBody>
      </p:sp>
      <p:pic>
        <p:nvPicPr>
          <p:cNvPr id="6" name="Picture 5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AED8D039-3E74-D5A1-4FBC-461B93BC52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431" y="2300444"/>
            <a:ext cx="7474360" cy="2257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C9F7B0-8FF5-2199-353E-A9F7A34899A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317" b="29406"/>
          <a:stretch/>
        </p:blipFill>
        <p:spPr>
          <a:xfrm>
            <a:off x="-713363" y="0"/>
            <a:ext cx="2372764" cy="17979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6C1939-2AC5-877B-95C1-5AA0F8BF1B1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52"/>
          <a:stretch/>
        </p:blipFill>
        <p:spPr>
          <a:xfrm>
            <a:off x="639431" y="5060062"/>
            <a:ext cx="1019970" cy="188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5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58278-9F10-B435-F069-9F641C12F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144000" cy="1453197"/>
          </a:xfrm>
        </p:spPr>
        <p:txBody>
          <a:bodyPr/>
          <a:lstStyle/>
          <a:p>
            <a:pPr algn="ctr"/>
            <a:r>
              <a:rPr lang="en-US" sz="3200" dirty="0"/>
              <a:t>University Database System: Design and Implementation</a:t>
            </a:r>
            <a:endParaRPr lang="en-CA" sz="32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43DBCF-FEB1-91BD-1D1D-66283D832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9144000" cy="2439328"/>
          </a:xfrm>
        </p:spPr>
        <p:txBody>
          <a:bodyPr/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C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Andre de Breyne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Andre Ricardo Caralli Junior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Bruno de Arantes Leite </a:t>
            </a:r>
            <a:r>
              <a:rPr lang="pt-BR" sz="1800" kern="100" dirty="0">
                <a:latin typeface="Times New Roman" panose="02020603050405020304" pitchFamily="18" charset="0"/>
              </a:rPr>
              <a:t>Sassi</a:t>
            </a:r>
            <a:endParaRPr lang="en-US" sz="1800" kern="100" dirty="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CA" sz="1800" kern="100" dirty="0">
                <a:latin typeface="Times New Roman" panose="02020603050405020304" pitchFamily="18" charset="0"/>
              </a:rPr>
              <a:t>Isaac </a:t>
            </a:r>
            <a:r>
              <a:rPr lang="en-CA" sz="1800" kern="100" dirty="0" err="1">
                <a:latin typeface="Times New Roman" panose="02020603050405020304" pitchFamily="18" charset="0"/>
              </a:rPr>
              <a:t>Inalegwu</a:t>
            </a:r>
            <a:r>
              <a:rPr lang="en-CA" sz="1800" kern="100" dirty="0">
                <a:latin typeface="Times New Roman" panose="02020603050405020304" pitchFamily="18" charset="0"/>
              </a:rPr>
              <a:t> Agba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CA" sz="1800" kern="100" dirty="0">
                <a:latin typeface="Times New Roman" panose="02020603050405020304" pitchFamily="18" charset="0"/>
              </a:rPr>
              <a:t>2025/03/25</a:t>
            </a:r>
            <a:endParaRPr lang="en-US" sz="1800" kern="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5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D16D-3FA4-6AF0-CBBB-2DE3D792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3847-69EA-797F-FB9C-474D701C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Project Objective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0F8ADC-F270-FE0D-335F-E8E39B1F13C9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8FEB6A-B75F-090A-92D8-2AAF32B94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920" y="2416580"/>
            <a:ext cx="732536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Develop a database to manage university academic operations.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Support student enrollments, grades, courses, semesters, and prerequisites.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Generate datasets for machine learning (e.g., predicting student performance)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59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EED7-52FD-BA91-469E-43D54CB2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6B58-4AA5-7FF3-0CF3-CEE21A78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System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7BBEDD-A168-51C2-1A6E-CDA7AC42E175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B1082E-F198-C768-6D78-CE0FD70DD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314" y="1916727"/>
            <a:ext cx="682940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10 interrelated tables.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Key entities: Students, Instructors, Courses, Departments, Semesters.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Features: Enrollments, grading, prerequisites, course scheduling.</a:t>
            </a:r>
          </a:p>
        </p:txBody>
      </p:sp>
    </p:spTree>
    <p:extLst>
      <p:ext uri="{BB962C8B-B14F-4D97-AF65-F5344CB8AC3E}">
        <p14:creationId xmlns:p14="http://schemas.microsoft.com/office/powerpoint/2010/main" val="104041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CF55-8354-FC23-2135-768D5A50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CAD1-3EA7-E2F0-C1C8-2DDFE763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ER Diagram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879E3-F8E0-BD57-217B-8C3A77AC0F48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A diagram of a student&#10;&#10;AI-generated content may be incorrect.">
            <a:extLst>
              <a:ext uri="{FF2B5EF4-FFF2-40B4-BE49-F238E27FC236}">
                <a16:creationId xmlns:a16="http://schemas.microsoft.com/office/drawing/2014/main" id="{1E31A48E-0890-132A-3F4A-CD11A99EA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48" y="1094596"/>
            <a:ext cx="6465404" cy="577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25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B19B-A7B8-38BC-6FF4-8F752D79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BB40-B3D8-125F-2213-33958D5E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Database Design: Relationships and Normalization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B4B2B0-F4E3-ED1C-4490-A933DA0A2B55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E04F6-3C3A-57AB-99C0-03B33D1AAE0F}"/>
              </a:ext>
            </a:extLst>
          </p:cNvPr>
          <p:cNvSpPr txBox="1"/>
          <p:nvPr/>
        </p:nvSpPr>
        <p:spPr>
          <a:xfrm>
            <a:off x="1055370" y="2282146"/>
            <a:ext cx="9013190" cy="2251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/>
              <a:t>•	Relationships: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/>
              <a:t>Students 1:N Enrollments.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/>
              <a:t>Courses N:N Semesters (via </a:t>
            </a:r>
            <a:r>
              <a:rPr lang="en-US" sz="2000" dirty="0" err="1"/>
              <a:t>Course_Semesters</a:t>
            </a:r>
            <a:r>
              <a:rPr lang="en-US" sz="2000" dirty="0"/>
              <a:t>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/>
              <a:t>•	Normalization: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/>
              <a:t>Up to 3NF (e.g., Addresses separated to avoid redundancy).</a:t>
            </a:r>
          </a:p>
        </p:txBody>
      </p:sp>
    </p:spTree>
    <p:extLst>
      <p:ext uri="{BB962C8B-B14F-4D97-AF65-F5344CB8AC3E}">
        <p14:creationId xmlns:p14="http://schemas.microsoft.com/office/powerpoint/2010/main" val="182832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8066-A506-D770-4B55-7ED08952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6E7F-AE05-D20A-ED1F-732D1421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DDL: Database Creation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11E7D-D7F8-5E76-D31A-C2355DD2B4B6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7568A-ED01-CE15-E0D4-3EFC479A3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91" y="1902985"/>
            <a:ext cx="4406132" cy="2493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C70B62-85BC-ED04-971E-3848CCE3A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838" y="1902985"/>
            <a:ext cx="4915326" cy="2438611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C25707B-97E2-E187-C4C0-EBEBD64B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367" y="4545282"/>
            <a:ext cx="884094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CREATE TABLE to define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KEY, FOREIGN KEY, NOT NULL, UNIQUE.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882D-5BFB-F67E-9F6C-AB621040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EF70-22DA-5C91-6388-91D3D17B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DML: Data Population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D9471-2E64-CDF5-2B73-8B427ADFBCFD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2E347D7-AE2C-0ED5-5C69-EC2A32A9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480" y="1824394"/>
            <a:ext cx="6705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inserted: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70 students, 20 instructors, 50 courses, 10 departments, 10 semesters.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70 enrollments, 70 grades, 28 prerequisites.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008D7-89AD-14B6-6D23-5156DA68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563" y="3686840"/>
            <a:ext cx="5709557" cy="2887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B40F8-92BA-BA3E-B2C3-F4B70BB0C532}"/>
              </a:ext>
            </a:extLst>
          </p:cNvPr>
          <p:cNvSpPr txBox="1"/>
          <p:nvPr/>
        </p:nvSpPr>
        <p:spPr>
          <a:xfrm>
            <a:off x="3931920" y="3947160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7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AEE70-9645-3171-770A-066B4E1A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A61C-280B-13A7-C743-6BD382FF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DQL: Reports and Analysis (Part 1 - University System)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1ACA4-DA41-F2B4-8F24-A021D73363CF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0D16D-A880-BC78-8AED-0DD689708262}"/>
              </a:ext>
            </a:extLst>
          </p:cNvPr>
          <p:cNvSpPr txBox="1"/>
          <p:nvPr/>
        </p:nvSpPr>
        <p:spPr>
          <a:xfrm>
            <a:off x="858520" y="1801614"/>
            <a:ext cx="723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Report 1: Student Performance by Course (with Ranking)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B82CEC-6F29-CB45-B072-44083CEA0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" y="2230307"/>
            <a:ext cx="8256986" cy="27434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A23F4C-DBA9-E082-3F5B-AB163672E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68" y="4800120"/>
            <a:ext cx="6023303" cy="17336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A37A2F-080E-24DE-DFC1-0A1B6EA45320}"/>
              </a:ext>
            </a:extLst>
          </p:cNvPr>
          <p:cNvSpPr txBox="1"/>
          <p:nvPr/>
        </p:nvSpPr>
        <p:spPr>
          <a:xfrm>
            <a:off x="2857700" y="480012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Output: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EEAF-0FC1-CC95-C49D-597CA2C2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110C-5BA3-07F4-AD67-E1B4272F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DQL: Reports and Analysis (Part 1 - University System)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531D7-8E3A-8203-E0E1-0D06A21D5F0E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CAD0A-EB4A-127C-3282-F78FB634DDF4}"/>
              </a:ext>
            </a:extLst>
          </p:cNvPr>
          <p:cNvSpPr txBox="1"/>
          <p:nvPr/>
        </p:nvSpPr>
        <p:spPr>
          <a:xfrm>
            <a:off x="858520" y="1883507"/>
            <a:ext cx="723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Report 2: Average Grade per Department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C231A-777A-1DCB-A75A-2537C2231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58" y="2324317"/>
            <a:ext cx="8523600" cy="3235235"/>
          </a:xfrm>
          <a:prstGeom prst="rect">
            <a:avLst/>
          </a:prstGeom>
        </p:spPr>
      </p:pic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E84534E9-00FE-A77E-EA9C-98652358F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164" y="4471152"/>
            <a:ext cx="2362200" cy="2266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235B75-37F7-07B4-473F-D77FEDC7EC15}"/>
              </a:ext>
            </a:extLst>
          </p:cNvPr>
          <p:cNvSpPr txBox="1"/>
          <p:nvPr/>
        </p:nvSpPr>
        <p:spPr>
          <a:xfrm>
            <a:off x="7023820" y="541996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Output: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72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BEC6-8169-22FB-57E4-9D97C9D3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7887-3907-F8B9-B388-B2FB0046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DQL: Reports and Analysis (Part 2 - University System)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EABEA-AC33-8CDF-B585-6F1A14940B28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C958E-CD92-4E1C-E0C1-FC1FBCEAD526}"/>
              </a:ext>
            </a:extLst>
          </p:cNvPr>
          <p:cNvSpPr txBox="1"/>
          <p:nvPr/>
        </p:nvSpPr>
        <p:spPr>
          <a:xfrm>
            <a:off x="858520" y="1836275"/>
            <a:ext cx="925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Report 3: Enrollment Trends per Semester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46E2ED-8835-8BB7-310C-5406910E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21" y="2205607"/>
            <a:ext cx="7263775" cy="29215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3816B2-CDE0-E005-FD7E-0BE41205D3EF}"/>
              </a:ext>
            </a:extLst>
          </p:cNvPr>
          <p:cNvSpPr txBox="1"/>
          <p:nvPr/>
        </p:nvSpPr>
        <p:spPr>
          <a:xfrm>
            <a:off x="7074620" y="539144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Output:</a:t>
            </a:r>
            <a:endParaRPr lang="en-US" dirty="0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B7C8B1-D0D8-BED9-0A7A-5E45E0FA6A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815"/>
          <a:stretch/>
        </p:blipFill>
        <p:spPr>
          <a:xfrm>
            <a:off x="8059905" y="4837059"/>
            <a:ext cx="2419350" cy="18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7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A439-A22B-DD76-C5F7-9FBFC5E3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B3F5-C3E8-0A75-0F73-C2A63DE6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DQL: Reports and Analysis (Part 2 - University System)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E33B5F-4A7C-F854-673B-45DEC304DA4A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9B237-D5F2-9940-16F8-AE19F0373F03}"/>
              </a:ext>
            </a:extLst>
          </p:cNvPr>
          <p:cNvSpPr txBox="1"/>
          <p:nvPr/>
        </p:nvSpPr>
        <p:spPr>
          <a:xfrm>
            <a:off x="858520" y="1899688"/>
            <a:ext cx="925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Report 4: Courses and Their Prerequisites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D4EFD-F0C7-9433-C7E1-6E84DE5D5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83" y="2329857"/>
            <a:ext cx="8586857" cy="2990721"/>
          </a:xfrm>
          <a:prstGeom prst="rect">
            <a:avLst/>
          </a:prstGeom>
        </p:spPr>
      </p:pic>
      <p:pic>
        <p:nvPicPr>
          <p:cNvPr id="8" name="Picture 7" descr="A table of information&#10;&#10;AI-generated content may be incorrect.">
            <a:extLst>
              <a:ext uri="{FF2B5EF4-FFF2-40B4-BE49-F238E27FC236}">
                <a16:creationId xmlns:a16="http://schemas.microsoft.com/office/drawing/2014/main" id="{D5ACDE18-F882-6F40-1E70-6484AE64AC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404"/>
          <a:stretch/>
        </p:blipFill>
        <p:spPr>
          <a:xfrm>
            <a:off x="7188021" y="5075597"/>
            <a:ext cx="3305175" cy="1523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ECAD95-8EDB-8629-253E-37A9F3956085}"/>
              </a:ext>
            </a:extLst>
          </p:cNvPr>
          <p:cNvSpPr txBox="1"/>
          <p:nvPr/>
        </p:nvSpPr>
        <p:spPr>
          <a:xfrm>
            <a:off x="6236423" y="565292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Output: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48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F208-0EC4-14B8-6FA4-C2A1D13F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DD37-9BB4-7059-30F6-60D5E320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Machine Learning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3187B6-57D1-23C8-8719-C82496934FF0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B50575C-E139-AA2F-85FB-70C8DBC07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877" y="1690585"/>
            <a:ext cx="941695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System Datasets: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for Predicting Grades: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feature_student_avg_gpa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feature_course_credits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for At-Risk Students: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feature_failed_courses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feature_avg_grade_semester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feature_num_enrollments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for Course Scheduling: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feature_enrollment_count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feature_avg_grade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feature_popularity_rank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for Instructor Evaluation: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instructor_id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feature_num_students_taught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feature_avg_grade_given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feature_avg_course_difficulty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student grades, identify at-risk students, optimize course scheduling, or evaluate instructor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7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6B93-C3D8-C5AD-A1B0-0698AF7F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499D-CF06-B3F3-1522-48C92F7A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20" y="558392"/>
            <a:ext cx="9156700" cy="587375"/>
          </a:xfrm>
        </p:spPr>
        <p:txBody>
          <a:bodyPr/>
          <a:lstStyle/>
          <a:p>
            <a:r>
              <a:rPr lang="en-US" sz="3200" dirty="0"/>
              <a:t>Conclusion and Next 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3FB45-18CE-0BAF-1173-E6A9C3F0A105}"/>
              </a:ext>
            </a:extLst>
          </p:cNvPr>
          <p:cNvSpPr txBox="1"/>
          <p:nvPr/>
        </p:nvSpPr>
        <p:spPr>
          <a:xfrm flipV="1">
            <a:off x="13446414" y="3855719"/>
            <a:ext cx="1013913" cy="53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CF4035-16E7-2337-374E-ADE5ED9C9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84" y="1803781"/>
            <a:ext cx="782016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university database with 10 tables.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academic operations, machine learning, and additional business analyses.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more tables (e.g., events, libraries).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triggers for automatic updates (e.g., GPA).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dashboard for data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59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{0513A6C0-F57C-6240-9A89-F4E5EE3852F3}tf16401378</Template>
  <TotalTime>4372</TotalTime>
  <Words>504</Words>
  <Application>Microsoft Office PowerPoint</Application>
  <PresentationFormat>Widescreen</PresentationFormat>
  <Paragraphs>86</Paragraphs>
  <Slides>14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Office Theme</vt:lpstr>
      <vt:lpstr>Apresentação do PowerPoint</vt:lpstr>
      <vt:lpstr>University Database System: Design and Implementation</vt:lpstr>
      <vt:lpstr>Project Objective</vt:lpstr>
      <vt:lpstr>System Overview</vt:lpstr>
      <vt:lpstr>ER Diagram</vt:lpstr>
      <vt:lpstr>Database Design: Relationships and Normalization</vt:lpstr>
      <vt:lpstr>DDL: Database Creation</vt:lpstr>
      <vt:lpstr>DML: Data Population</vt:lpstr>
      <vt:lpstr>DQL: Reports and Analysis (Part 1 - University System)</vt:lpstr>
      <vt:lpstr>DQL: Reports and Analysis (Part 1 - University System)</vt:lpstr>
      <vt:lpstr>DQL: Reports and Analysis (Part 2 - University System)</vt:lpstr>
      <vt:lpstr>DQL: Reports and Analysis (Part 2 - University System)</vt:lpstr>
      <vt:lpstr>Machine Learning Integration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</dc:title>
  <dc:creator>Ashley Kowal</dc:creator>
  <cp:lastModifiedBy>Andre De Carvalho Craide De Breyne</cp:lastModifiedBy>
  <cp:revision>51</cp:revision>
  <dcterms:created xsi:type="dcterms:W3CDTF">2024-01-12T20:35:40Z</dcterms:created>
  <dcterms:modified xsi:type="dcterms:W3CDTF">2025-03-24T08:08:28Z</dcterms:modified>
</cp:coreProperties>
</file>