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258" r:id="rId3"/>
    <p:sldId id="268" r:id="rId4"/>
    <p:sldId id="269" r:id="rId5"/>
    <p:sldId id="277" r:id="rId6"/>
    <p:sldId id="270" r:id="rId7"/>
    <p:sldId id="271" r:id="rId8"/>
    <p:sldId id="272" r:id="rId9"/>
    <p:sldId id="273" r:id="rId10"/>
    <p:sldId id="278" r:id="rId11"/>
    <p:sldId id="276" r:id="rId12"/>
    <p:sldId id="279" r:id="rId13"/>
    <p:sldId id="280" r:id="rId14"/>
    <p:sldId id="281" r:id="rId15"/>
    <p:sldId id="28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87"/>
    <a:srgbClr val="00B1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3D7888-2B9A-457A-868B-EDCE0FB51D77}" v="26" dt="2025-03-25T00:06:09.961"/>
    <p1510:client id="{D74230BA-0252-4A2B-917B-B5E5C94BEC12}" v="3" dt="2025-03-25T01:23:30.8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6" autoAdjust="0"/>
    <p:restoredTop sz="75293" autoAdjust="0"/>
  </p:normalViewPr>
  <p:slideViewPr>
    <p:cSldViewPr snapToGrid="0">
      <p:cViewPr varScale="1">
        <p:scale>
          <a:sx n="62" d="100"/>
          <a:sy n="62" d="100"/>
        </p:scale>
        <p:origin x="1483" y="5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De Carvalho Craide De Breyne" userId="cb2bc9df-10c1-4521-a2e1-7f5af6edcaf2" providerId="ADAL" clId="{D74230BA-0252-4A2B-917B-B5E5C94BEC12}"/>
    <pc:docChg chg="undo custSel addSld modSld">
      <pc:chgData name="Andre De Carvalho Craide De Breyne" userId="cb2bc9df-10c1-4521-a2e1-7f5af6edcaf2" providerId="ADAL" clId="{D74230BA-0252-4A2B-917B-B5E5C94BEC12}" dt="2025-03-25T01:49:23.942" v="71" actId="20577"/>
      <pc:docMkLst>
        <pc:docMk/>
      </pc:docMkLst>
      <pc:sldChg chg="modNotesTx">
        <pc:chgData name="Andre De Carvalho Craide De Breyne" userId="cb2bc9df-10c1-4521-a2e1-7f5af6edcaf2" providerId="ADAL" clId="{D74230BA-0252-4A2B-917B-B5E5C94BEC12}" dt="2025-03-25T01:06:42.254" v="6" actId="20577"/>
        <pc:sldMkLst>
          <pc:docMk/>
          <pc:sldMk cId="3194354816" sldId="257"/>
        </pc:sldMkLst>
      </pc:sldChg>
      <pc:sldChg chg="modNotesTx">
        <pc:chgData name="Andre De Carvalho Craide De Breyne" userId="cb2bc9df-10c1-4521-a2e1-7f5af6edcaf2" providerId="ADAL" clId="{D74230BA-0252-4A2B-917B-B5E5C94BEC12}" dt="2025-03-25T01:07:28.371" v="16" actId="20577"/>
        <pc:sldMkLst>
          <pc:docMk/>
          <pc:sldMk cId="338356214" sldId="258"/>
        </pc:sldMkLst>
      </pc:sldChg>
      <pc:sldChg chg="modNotesTx">
        <pc:chgData name="Andre De Carvalho Craide De Breyne" userId="cb2bc9df-10c1-4521-a2e1-7f5af6edcaf2" providerId="ADAL" clId="{D74230BA-0252-4A2B-917B-B5E5C94BEC12}" dt="2025-03-25T01:14:54.892" v="36"/>
        <pc:sldMkLst>
          <pc:docMk/>
          <pc:sldMk cId="2937591190" sldId="268"/>
        </pc:sldMkLst>
      </pc:sldChg>
      <pc:sldChg chg="modNotesTx">
        <pc:chgData name="Andre De Carvalho Craide De Breyne" userId="cb2bc9df-10c1-4521-a2e1-7f5af6edcaf2" providerId="ADAL" clId="{D74230BA-0252-4A2B-917B-B5E5C94BEC12}" dt="2025-03-25T01:15:03.969" v="37"/>
        <pc:sldMkLst>
          <pc:docMk/>
          <pc:sldMk cId="1040419965" sldId="269"/>
        </pc:sldMkLst>
      </pc:sldChg>
      <pc:sldChg chg="modNotesTx">
        <pc:chgData name="Andre De Carvalho Craide De Breyne" userId="cb2bc9df-10c1-4521-a2e1-7f5af6edcaf2" providerId="ADAL" clId="{D74230BA-0252-4A2B-917B-B5E5C94BEC12}" dt="2025-03-25T01:15:23.583" v="39"/>
        <pc:sldMkLst>
          <pc:docMk/>
          <pc:sldMk cId="1828322236" sldId="270"/>
        </pc:sldMkLst>
      </pc:sldChg>
      <pc:sldChg chg="modNotesTx">
        <pc:chgData name="Andre De Carvalho Craide De Breyne" userId="cb2bc9df-10c1-4521-a2e1-7f5af6edcaf2" providerId="ADAL" clId="{D74230BA-0252-4A2B-917B-B5E5C94BEC12}" dt="2025-03-25T01:15:49.478" v="40"/>
        <pc:sldMkLst>
          <pc:docMk/>
          <pc:sldMk cId="1743626352" sldId="271"/>
        </pc:sldMkLst>
      </pc:sldChg>
      <pc:sldChg chg="modNotesTx">
        <pc:chgData name="Andre De Carvalho Craide De Breyne" userId="cb2bc9df-10c1-4521-a2e1-7f5af6edcaf2" providerId="ADAL" clId="{D74230BA-0252-4A2B-917B-B5E5C94BEC12}" dt="2025-03-25T01:16:03.835" v="41"/>
        <pc:sldMkLst>
          <pc:docMk/>
          <pc:sldMk cId="381279912" sldId="272"/>
        </pc:sldMkLst>
      </pc:sldChg>
      <pc:sldChg chg="modNotesTx">
        <pc:chgData name="Andre De Carvalho Craide De Breyne" userId="cb2bc9df-10c1-4521-a2e1-7f5af6edcaf2" providerId="ADAL" clId="{D74230BA-0252-4A2B-917B-B5E5C94BEC12}" dt="2025-03-25T01:17:02.097" v="44"/>
        <pc:sldMkLst>
          <pc:docMk/>
          <pc:sldMk cId="246656913" sldId="273"/>
        </pc:sldMkLst>
      </pc:sldChg>
      <pc:sldChg chg="modNotesTx">
        <pc:chgData name="Andre De Carvalho Craide De Breyne" userId="cb2bc9df-10c1-4521-a2e1-7f5af6edcaf2" providerId="ADAL" clId="{D74230BA-0252-4A2B-917B-B5E5C94BEC12}" dt="2025-03-25T01:18:20.675" v="50"/>
        <pc:sldMkLst>
          <pc:docMk/>
          <pc:sldMk cId="2883073026" sldId="276"/>
        </pc:sldMkLst>
      </pc:sldChg>
      <pc:sldChg chg="modNotesTx">
        <pc:chgData name="Andre De Carvalho Craide De Breyne" userId="cb2bc9df-10c1-4521-a2e1-7f5af6edcaf2" providerId="ADAL" clId="{D74230BA-0252-4A2B-917B-B5E5C94BEC12}" dt="2025-03-25T01:15:13.050" v="38"/>
        <pc:sldMkLst>
          <pc:docMk/>
          <pc:sldMk cId="1187925397" sldId="277"/>
        </pc:sldMkLst>
      </pc:sldChg>
      <pc:sldChg chg="modNotesTx">
        <pc:chgData name="Andre De Carvalho Craide De Breyne" userId="cb2bc9df-10c1-4521-a2e1-7f5af6edcaf2" providerId="ADAL" clId="{D74230BA-0252-4A2B-917B-B5E5C94BEC12}" dt="2025-03-25T01:17:11.290" v="45"/>
        <pc:sldMkLst>
          <pc:docMk/>
          <pc:sldMk cId="1176725513" sldId="278"/>
        </pc:sldMkLst>
      </pc:sldChg>
      <pc:sldChg chg="modNotesTx">
        <pc:chgData name="Andre De Carvalho Craide De Breyne" userId="cb2bc9df-10c1-4521-a2e1-7f5af6edcaf2" providerId="ADAL" clId="{D74230BA-0252-4A2B-917B-B5E5C94BEC12}" dt="2025-03-25T01:20:53.169" v="53"/>
        <pc:sldMkLst>
          <pc:docMk/>
          <pc:sldMk cId="2490486195" sldId="279"/>
        </pc:sldMkLst>
      </pc:sldChg>
      <pc:sldChg chg="modSp mod modNotesTx">
        <pc:chgData name="Andre De Carvalho Craide De Breyne" userId="cb2bc9df-10c1-4521-a2e1-7f5af6edcaf2" providerId="ADAL" clId="{D74230BA-0252-4A2B-917B-B5E5C94BEC12}" dt="2025-03-25T01:29:06.855" v="70" actId="6549"/>
        <pc:sldMkLst>
          <pc:docMk/>
          <pc:sldMk cId="2249375405" sldId="280"/>
        </pc:sldMkLst>
        <pc:spChg chg="mod">
          <ac:chgData name="Andre De Carvalho Craide De Breyne" userId="cb2bc9df-10c1-4521-a2e1-7f5af6edcaf2" providerId="ADAL" clId="{D74230BA-0252-4A2B-917B-B5E5C94BEC12}" dt="2025-03-25T01:29:06.855" v="70" actId="6549"/>
          <ac:spMkLst>
            <pc:docMk/>
            <pc:sldMk cId="2249375405" sldId="280"/>
            <ac:spMk id="7" creationId="{7B50575C-E139-AA2F-85FB-70C8DBC07B28}"/>
          </ac:spMkLst>
        </pc:spChg>
      </pc:sldChg>
      <pc:sldChg chg="modNotesTx">
        <pc:chgData name="Andre De Carvalho Craide De Breyne" userId="cb2bc9df-10c1-4521-a2e1-7f5af6edcaf2" providerId="ADAL" clId="{D74230BA-0252-4A2B-917B-B5E5C94BEC12}" dt="2025-03-25T01:19:23.951" v="52"/>
        <pc:sldMkLst>
          <pc:docMk/>
          <pc:sldMk cId="4257598673" sldId="281"/>
        </pc:sldMkLst>
      </pc:sldChg>
      <pc:sldChg chg="delSp modSp add mod modNotesTx">
        <pc:chgData name="Andre De Carvalho Craide De Breyne" userId="cb2bc9df-10c1-4521-a2e1-7f5af6edcaf2" providerId="ADAL" clId="{D74230BA-0252-4A2B-917B-B5E5C94BEC12}" dt="2025-03-25T01:49:23.942" v="71" actId="20577"/>
        <pc:sldMkLst>
          <pc:docMk/>
          <pc:sldMk cId="3347238642" sldId="282"/>
        </pc:sldMkLst>
        <pc:spChg chg="mod">
          <ac:chgData name="Andre De Carvalho Craide De Breyne" userId="cb2bc9df-10c1-4521-a2e1-7f5af6edcaf2" providerId="ADAL" clId="{D74230BA-0252-4A2B-917B-B5E5C94BEC12}" dt="2025-03-25T01:23:47.778" v="68" actId="1076"/>
          <ac:spMkLst>
            <pc:docMk/>
            <pc:sldMk cId="3347238642" sldId="282"/>
            <ac:spMk id="2" creationId="{6C1F20FF-7825-E1DE-0B48-50BADF49EC5C}"/>
          </ac:spMkLst>
        </pc:spChg>
        <pc:spChg chg="del">
          <ac:chgData name="Andre De Carvalho Craide De Breyne" userId="cb2bc9df-10c1-4521-a2e1-7f5af6edcaf2" providerId="ADAL" clId="{D74230BA-0252-4A2B-917B-B5E5C94BEC12}" dt="2025-03-25T01:23:30.863" v="55" actId="478"/>
          <ac:spMkLst>
            <pc:docMk/>
            <pc:sldMk cId="3347238642" sldId="282"/>
            <ac:spMk id="5" creationId="{5F198AB8-5534-9879-D62F-4EE6BF30C196}"/>
          </ac:spMkLst>
        </pc:spChg>
      </pc:sldChg>
    </pc:docChg>
  </pc:docChgLst>
  <pc:docChgLst>
    <pc:chgData name="Bruno De Arantes Leite Sassi" userId="005d01a4-3a4b-4962-a062-cc065f3b2931" providerId="ADAL" clId="{E094B293-68BD-4625-9AF0-FDED9A9C55E4}"/>
    <pc:docChg chg="undo custSel modSld">
      <pc:chgData name="Bruno De Arantes Leite Sassi" userId="005d01a4-3a4b-4962-a062-cc065f3b2931" providerId="ADAL" clId="{E094B293-68BD-4625-9AF0-FDED9A9C55E4}" dt="2025-03-25T04:25:33.731" v="132" actId="20577"/>
      <pc:docMkLst>
        <pc:docMk/>
      </pc:docMkLst>
      <pc:sldChg chg="addSp delSp modSp mod">
        <pc:chgData name="Bruno De Arantes Leite Sassi" userId="005d01a4-3a4b-4962-a062-cc065f3b2931" providerId="ADAL" clId="{E094B293-68BD-4625-9AF0-FDED9A9C55E4}" dt="2025-03-25T04:22:43.768" v="116" actId="1076"/>
        <pc:sldMkLst>
          <pc:docMk/>
          <pc:sldMk cId="246656913" sldId="273"/>
        </pc:sldMkLst>
        <pc:spChg chg="mod ord">
          <ac:chgData name="Bruno De Arantes Leite Sassi" userId="005d01a4-3a4b-4962-a062-cc065f3b2931" providerId="ADAL" clId="{E094B293-68BD-4625-9AF0-FDED9A9C55E4}" dt="2025-03-25T04:22:40.212" v="115" actId="1076"/>
          <ac:spMkLst>
            <pc:docMk/>
            <pc:sldMk cId="246656913" sldId="273"/>
            <ac:spMk id="21" creationId="{00A37A2F-080E-24DE-DFC1-0A1B6EA45320}"/>
          </ac:spMkLst>
        </pc:spChg>
        <pc:picChg chg="add mod ord">
          <ac:chgData name="Bruno De Arantes Leite Sassi" userId="005d01a4-3a4b-4962-a062-cc065f3b2931" providerId="ADAL" clId="{E094B293-68BD-4625-9AF0-FDED9A9C55E4}" dt="2025-03-25T04:22:32.102" v="112" actId="1076"/>
          <ac:picMkLst>
            <pc:docMk/>
            <pc:sldMk cId="246656913" sldId="273"/>
            <ac:picMk id="4" creationId="{00F4F525-861F-4E67-4130-7A048EFB120B}"/>
          </ac:picMkLst>
        </pc:picChg>
        <pc:picChg chg="add mod">
          <ac:chgData name="Bruno De Arantes Leite Sassi" userId="005d01a4-3a4b-4962-a062-cc065f3b2931" providerId="ADAL" clId="{E094B293-68BD-4625-9AF0-FDED9A9C55E4}" dt="2025-03-25T04:22:43.768" v="116" actId="1076"/>
          <ac:picMkLst>
            <pc:docMk/>
            <pc:sldMk cId="246656913" sldId="273"/>
            <ac:picMk id="7" creationId="{EEDA1767-1F19-A1F9-2127-FEED88EC2451}"/>
          </ac:picMkLst>
        </pc:picChg>
        <pc:picChg chg="del">
          <ac:chgData name="Bruno De Arantes Leite Sassi" userId="005d01a4-3a4b-4962-a062-cc065f3b2931" providerId="ADAL" clId="{E094B293-68BD-4625-9AF0-FDED9A9C55E4}" dt="2025-03-25T04:22:07.960" v="102" actId="478"/>
          <ac:picMkLst>
            <pc:docMk/>
            <pc:sldMk cId="246656913" sldId="273"/>
            <ac:picMk id="17" creationId="{11B82CEC-6F29-CB45-B072-44083CEA0BBE}"/>
          </ac:picMkLst>
        </pc:picChg>
        <pc:picChg chg="del">
          <ac:chgData name="Bruno De Arantes Leite Sassi" userId="005d01a4-3a4b-4962-a062-cc065f3b2931" providerId="ADAL" clId="{E094B293-68BD-4625-9AF0-FDED9A9C55E4}" dt="2025-03-25T04:21:35.956" v="98" actId="478"/>
          <ac:picMkLst>
            <pc:docMk/>
            <pc:sldMk cId="246656913" sldId="273"/>
            <ac:picMk id="19" creationId="{F7A23F4C-DBA9-E082-3F5B-AB163672E0E2}"/>
          </ac:picMkLst>
        </pc:picChg>
      </pc:sldChg>
      <pc:sldChg chg="addSp delSp modSp mod">
        <pc:chgData name="Bruno De Arantes Leite Sassi" userId="005d01a4-3a4b-4962-a062-cc065f3b2931" providerId="ADAL" clId="{E094B293-68BD-4625-9AF0-FDED9A9C55E4}" dt="2025-03-25T04:16:40.883" v="81" actId="1076"/>
        <pc:sldMkLst>
          <pc:docMk/>
          <pc:sldMk cId="2883073026" sldId="276"/>
        </pc:sldMkLst>
        <pc:spChg chg="mod">
          <ac:chgData name="Bruno De Arantes Leite Sassi" userId="005d01a4-3a4b-4962-a062-cc065f3b2931" providerId="ADAL" clId="{E094B293-68BD-4625-9AF0-FDED9A9C55E4}" dt="2025-03-25T04:16:40.883" v="81" actId="1076"/>
          <ac:spMkLst>
            <pc:docMk/>
            <pc:sldMk cId="2883073026" sldId="276"/>
            <ac:spMk id="12" creationId="{7F3816B2-CDE0-E005-FD7E-0BE41205D3EF}"/>
          </ac:spMkLst>
        </pc:spChg>
        <pc:picChg chg="add mod">
          <ac:chgData name="Bruno De Arantes Leite Sassi" userId="005d01a4-3a4b-4962-a062-cc065f3b2931" providerId="ADAL" clId="{E094B293-68BD-4625-9AF0-FDED9A9C55E4}" dt="2025-03-25T04:16:38.256" v="80" actId="1076"/>
          <ac:picMkLst>
            <pc:docMk/>
            <pc:sldMk cId="2883073026" sldId="276"/>
            <ac:picMk id="4" creationId="{434F8952-CA8D-A936-A479-EA4D5A5D4597}"/>
          </ac:picMkLst>
        </pc:picChg>
        <pc:picChg chg="del">
          <ac:chgData name="Bruno De Arantes Leite Sassi" userId="005d01a4-3a4b-4962-a062-cc065f3b2931" providerId="ADAL" clId="{E094B293-68BD-4625-9AF0-FDED9A9C55E4}" dt="2025-03-25T04:16:25.763" v="77" actId="478"/>
          <ac:picMkLst>
            <pc:docMk/>
            <pc:sldMk cId="2883073026" sldId="276"/>
            <ac:picMk id="14" creationId="{8BB7C8B1-D0D8-BED9-0A7A-5E45E0FA6A94}"/>
          </ac:picMkLst>
        </pc:picChg>
      </pc:sldChg>
      <pc:sldChg chg="addSp delSp modSp mod">
        <pc:chgData name="Bruno De Arantes Leite Sassi" userId="005d01a4-3a4b-4962-a062-cc065f3b2931" providerId="ADAL" clId="{E094B293-68BD-4625-9AF0-FDED9A9C55E4}" dt="2025-03-25T04:20:18.548" v="97" actId="166"/>
        <pc:sldMkLst>
          <pc:docMk/>
          <pc:sldMk cId="1176725513" sldId="278"/>
        </pc:sldMkLst>
        <pc:spChg chg="mod ord">
          <ac:chgData name="Bruno De Arantes Leite Sassi" userId="005d01a4-3a4b-4962-a062-cc065f3b2931" providerId="ADAL" clId="{E094B293-68BD-4625-9AF0-FDED9A9C55E4}" dt="2025-03-25T04:20:18.548" v="97" actId="166"/>
          <ac:spMkLst>
            <pc:docMk/>
            <pc:sldMk cId="1176725513" sldId="278"/>
            <ac:spMk id="8" creationId="{36235B75-37F7-07B4-473F-D77FEDC7EC15}"/>
          </ac:spMkLst>
        </pc:spChg>
        <pc:spChg chg="mod">
          <ac:chgData name="Bruno De Arantes Leite Sassi" userId="005d01a4-3a4b-4962-a062-cc065f3b2931" providerId="ADAL" clId="{E094B293-68BD-4625-9AF0-FDED9A9C55E4}" dt="2025-03-25T04:20:05.362" v="93" actId="1076"/>
          <ac:spMkLst>
            <pc:docMk/>
            <pc:sldMk cId="1176725513" sldId="278"/>
            <ac:spMk id="11" creationId="{B2ECAD0A-EB4A-127C-3282-F78FB634DDF4}"/>
          </ac:spMkLst>
        </pc:spChg>
        <pc:picChg chg="del mod">
          <ac:chgData name="Bruno De Arantes Leite Sassi" userId="005d01a4-3a4b-4962-a062-cc065f3b2931" providerId="ADAL" clId="{E094B293-68BD-4625-9AF0-FDED9A9C55E4}" dt="2025-03-25T04:19:54.203" v="90" actId="478"/>
          <ac:picMkLst>
            <pc:docMk/>
            <pc:sldMk cId="1176725513" sldId="278"/>
            <ac:picMk id="4" creationId="{405C231A-777A-1DCB-A75A-2537C2231FE2}"/>
          </ac:picMkLst>
        </pc:picChg>
        <pc:picChg chg="add mod">
          <ac:chgData name="Bruno De Arantes Leite Sassi" userId="005d01a4-3a4b-4962-a062-cc065f3b2931" providerId="ADAL" clId="{E094B293-68BD-4625-9AF0-FDED9A9C55E4}" dt="2025-03-25T04:18:24.581" v="88" actId="1076"/>
          <ac:picMkLst>
            <pc:docMk/>
            <pc:sldMk cId="1176725513" sldId="278"/>
            <ac:picMk id="5" creationId="{4B2BBD7E-CBDF-171C-A942-2C315ADD3FBA}"/>
          </ac:picMkLst>
        </pc:picChg>
        <pc:picChg chg="del">
          <ac:chgData name="Bruno De Arantes Leite Sassi" userId="005d01a4-3a4b-4962-a062-cc065f3b2931" providerId="ADAL" clId="{E094B293-68BD-4625-9AF0-FDED9A9C55E4}" dt="2025-03-25T04:18:19.891" v="86" actId="478"/>
          <ac:picMkLst>
            <pc:docMk/>
            <pc:sldMk cId="1176725513" sldId="278"/>
            <ac:picMk id="7" creationId="{E84534E9-00FE-A77E-EA9C-98652358F501}"/>
          </ac:picMkLst>
        </pc:picChg>
        <pc:picChg chg="add mod">
          <ac:chgData name="Bruno De Arantes Leite Sassi" userId="005d01a4-3a4b-4962-a062-cc065f3b2931" providerId="ADAL" clId="{E094B293-68BD-4625-9AF0-FDED9A9C55E4}" dt="2025-03-25T04:20:11.079" v="96" actId="1076"/>
          <ac:picMkLst>
            <pc:docMk/>
            <pc:sldMk cId="1176725513" sldId="278"/>
            <ac:picMk id="9" creationId="{765171F2-727E-7FCB-EDB7-74B619A0311E}"/>
          </ac:picMkLst>
        </pc:picChg>
      </pc:sldChg>
      <pc:sldChg chg="addSp delSp modSp mod modNotesTx">
        <pc:chgData name="Bruno De Arantes Leite Sassi" userId="005d01a4-3a4b-4962-a062-cc065f3b2931" providerId="ADAL" clId="{E094B293-68BD-4625-9AF0-FDED9A9C55E4}" dt="2025-03-25T04:14:31.716" v="75" actId="1036"/>
        <pc:sldMkLst>
          <pc:docMk/>
          <pc:sldMk cId="2490486195" sldId="279"/>
        </pc:sldMkLst>
        <pc:spChg chg="mod ord">
          <ac:chgData name="Bruno De Arantes Leite Sassi" userId="005d01a4-3a4b-4962-a062-cc065f3b2931" providerId="ADAL" clId="{E094B293-68BD-4625-9AF0-FDED9A9C55E4}" dt="2025-03-25T04:14:27.311" v="68" actId="1076"/>
          <ac:spMkLst>
            <pc:docMk/>
            <pc:sldMk cId="2490486195" sldId="279"/>
            <ac:spMk id="9" creationId="{93ECAD95-8EDB-8629-253E-37A9F3956085}"/>
          </ac:spMkLst>
        </pc:spChg>
        <pc:picChg chg="del">
          <ac:chgData name="Bruno De Arantes Leite Sassi" userId="005d01a4-3a4b-4962-a062-cc065f3b2931" providerId="ADAL" clId="{E094B293-68BD-4625-9AF0-FDED9A9C55E4}" dt="2025-03-25T04:12:42.340" v="12" actId="478"/>
          <ac:picMkLst>
            <pc:docMk/>
            <pc:sldMk cId="2490486195" sldId="279"/>
            <ac:picMk id="4" creationId="{F51D4EFD-F0C7-9433-C7E1-6E84DE5D5EEF}"/>
          </ac:picMkLst>
        </pc:picChg>
        <pc:picChg chg="add del mod">
          <ac:chgData name="Bruno De Arantes Leite Sassi" userId="005d01a4-3a4b-4962-a062-cc065f3b2931" providerId="ADAL" clId="{E094B293-68BD-4625-9AF0-FDED9A9C55E4}" dt="2025-03-25T04:12:06.369" v="7" actId="478"/>
          <ac:picMkLst>
            <pc:docMk/>
            <pc:sldMk cId="2490486195" sldId="279"/>
            <ac:picMk id="5" creationId="{57FE30C7-ECA7-755B-143E-1D932D562300}"/>
          </ac:picMkLst>
        </pc:picChg>
        <pc:picChg chg="del">
          <ac:chgData name="Bruno De Arantes Leite Sassi" userId="005d01a4-3a4b-4962-a062-cc065f3b2931" providerId="ADAL" clId="{E094B293-68BD-4625-9AF0-FDED9A9C55E4}" dt="2025-03-25T04:12:46.138" v="15" actId="478"/>
          <ac:picMkLst>
            <pc:docMk/>
            <pc:sldMk cId="2490486195" sldId="279"/>
            <ac:picMk id="8" creationId="{D5ACDE18-F882-6F40-1E70-6484AE64ACC3}"/>
          </ac:picMkLst>
        </pc:picChg>
        <pc:picChg chg="add mod ord">
          <ac:chgData name="Bruno De Arantes Leite Sassi" userId="005d01a4-3a4b-4962-a062-cc065f3b2931" providerId="ADAL" clId="{E094B293-68BD-4625-9AF0-FDED9A9C55E4}" dt="2025-03-25T04:14:27.311" v="68" actId="1076"/>
          <ac:picMkLst>
            <pc:docMk/>
            <pc:sldMk cId="2490486195" sldId="279"/>
            <ac:picMk id="10" creationId="{02D7A87C-B46C-B66C-D2B1-A92FD0244E5B}"/>
          </ac:picMkLst>
        </pc:picChg>
        <pc:picChg chg="add mod">
          <ac:chgData name="Bruno De Arantes Leite Sassi" userId="005d01a4-3a4b-4962-a062-cc065f3b2931" providerId="ADAL" clId="{E094B293-68BD-4625-9AF0-FDED9A9C55E4}" dt="2025-03-25T04:14:31.716" v="75" actId="1036"/>
          <ac:picMkLst>
            <pc:docMk/>
            <pc:sldMk cId="2490486195" sldId="279"/>
            <ac:picMk id="12" creationId="{9CFDFF24-804D-6D5F-C024-AC788A741130}"/>
          </ac:picMkLst>
        </pc:picChg>
      </pc:sldChg>
      <pc:sldChg chg="modNotesTx">
        <pc:chgData name="Bruno De Arantes Leite Sassi" userId="005d01a4-3a4b-4962-a062-cc065f3b2931" providerId="ADAL" clId="{E094B293-68BD-4625-9AF0-FDED9A9C55E4}" dt="2025-03-25T04:25:33.731" v="132" actId="20577"/>
        <pc:sldMkLst>
          <pc:docMk/>
          <pc:sldMk cId="4257598673"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61CE4-BB05-4965-A55C-E9732BCBAF42}" type="datetimeFigureOut">
              <a:rPr lang="en-CA" smtClean="0"/>
              <a:t>2025-03-24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AF780-8423-4125-BD97-E6FF2D5825A1}" type="slidenum">
              <a:rPr lang="en-CA" smtClean="0"/>
              <a:t>‹#›</a:t>
            </a:fld>
            <a:endParaRPr lang="en-CA"/>
          </a:p>
        </p:txBody>
      </p:sp>
    </p:spTree>
    <p:extLst>
      <p:ext uri="{BB962C8B-B14F-4D97-AF65-F5344CB8AC3E}">
        <p14:creationId xmlns:p14="http://schemas.microsoft.com/office/powerpoint/2010/main" val="3472740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p>
        </p:txBody>
      </p:sp>
      <p:sp>
        <p:nvSpPr>
          <p:cNvPr id="4" name="Slide Number Placeholder 3"/>
          <p:cNvSpPr>
            <a:spLocks noGrp="1"/>
          </p:cNvSpPr>
          <p:nvPr>
            <p:ph type="sldNum" sz="quarter" idx="5"/>
          </p:nvPr>
        </p:nvSpPr>
        <p:spPr/>
        <p:txBody>
          <a:bodyPr/>
          <a:lstStyle/>
          <a:p>
            <a:fld id="{94CAF780-8423-4125-BD97-E6FF2D5825A1}" type="slidenum">
              <a:rPr lang="en-CA" smtClean="0"/>
              <a:t>1</a:t>
            </a:fld>
            <a:endParaRPr lang="en-CA"/>
          </a:p>
        </p:txBody>
      </p:sp>
    </p:spTree>
    <p:extLst>
      <p:ext uri="{BB962C8B-B14F-4D97-AF65-F5344CB8AC3E}">
        <p14:creationId xmlns:p14="http://schemas.microsoft.com/office/powerpoint/2010/main" val="260410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are Group 1, consisting of Andre de Breyne, Andre Ricardo </a:t>
            </a:r>
            <a:r>
              <a:rPr lang="en-US" dirty="0" err="1"/>
              <a:t>Caralli</a:t>
            </a:r>
            <a:r>
              <a:rPr lang="en-US" dirty="0"/>
              <a:t> Junior, Bruno de Arantes Leite Sassi, and Isaac </a:t>
            </a:r>
            <a:r>
              <a:rPr lang="en-US" dirty="0" err="1"/>
              <a:t>Inalegwu</a:t>
            </a:r>
            <a:r>
              <a:rPr lang="en-US" dirty="0"/>
              <a:t> Agba.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Today, we’re presenting our project for the CPSC 500: SQL Databases course, taught by Dr. Sundus </a:t>
            </a:r>
            <a:r>
              <a:rPr lang="en-US" dirty="0" err="1"/>
              <a:t>Shanef</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is a university database system designed to manage academic operations and support machine learning applications.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also showcase additional SQL analyses to demonstrate our skills. Let’s get started.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4CAF780-8423-4125-BD97-E6FF2D5825A1}" type="slidenum">
              <a:rPr lang="en-CA" smtClean="0"/>
              <a:t>2</a:t>
            </a:fld>
            <a:endParaRPr lang="en-CA"/>
          </a:p>
        </p:txBody>
      </p:sp>
    </p:spTree>
    <p:extLst>
      <p:ext uri="{BB962C8B-B14F-4D97-AF65-F5344CB8AC3E}">
        <p14:creationId xmlns:p14="http://schemas.microsoft.com/office/powerpoint/2010/main" val="926996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A3AC-B376-2F25-EB79-C5B33C22D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500FD-93F1-B5A4-0F03-B97DD6821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1CD6F-DFEB-A6FB-198E-02E1A438E8A3}"/>
              </a:ext>
            </a:extLst>
          </p:cNvPr>
          <p:cNvSpPr>
            <a:spLocks noGrp="1"/>
          </p:cNvSpPr>
          <p:nvPr>
            <p:ph type="body" idx="1"/>
          </p:nvPr>
        </p:nvSpPr>
        <p:spPr/>
        <p:txBody>
          <a:bodyPr/>
          <a:lstStyle/>
          <a:p>
            <a:r>
              <a:rPr lang="en-US" dirty="0"/>
              <a:t>Our project objective was to create a robust database to manage a university’s academic operations, such as student enrollments, grades, courses, semesters, and prerequisites. We also aimed to generate datasets for machine learning applications, like predicting student performance, which we’ll explore later. Additionally, we included extra SQL analyses to provide business insights, showcasing our broader proficiency in SQL and data analytics, as outlined in this slide.</a:t>
            </a:r>
          </a:p>
        </p:txBody>
      </p:sp>
      <p:sp>
        <p:nvSpPr>
          <p:cNvPr id="4" name="Slide Number Placeholder 3">
            <a:extLst>
              <a:ext uri="{FF2B5EF4-FFF2-40B4-BE49-F238E27FC236}">
                <a16:creationId xmlns:a16="http://schemas.microsoft.com/office/drawing/2014/main" id="{153D2023-8A3A-2598-FE7B-07DD0A39129A}"/>
              </a:ext>
            </a:extLst>
          </p:cNvPr>
          <p:cNvSpPr>
            <a:spLocks noGrp="1"/>
          </p:cNvSpPr>
          <p:nvPr>
            <p:ph type="sldNum" sz="quarter" idx="5"/>
          </p:nvPr>
        </p:nvSpPr>
        <p:spPr/>
        <p:txBody>
          <a:bodyPr/>
          <a:lstStyle/>
          <a:p>
            <a:fld id="{94CAF780-8423-4125-BD97-E6FF2D5825A1}" type="slidenum">
              <a:rPr lang="en-CA" smtClean="0"/>
              <a:t>3</a:t>
            </a:fld>
            <a:endParaRPr lang="en-CA"/>
          </a:p>
        </p:txBody>
      </p:sp>
    </p:spTree>
    <p:extLst>
      <p:ext uri="{BB962C8B-B14F-4D97-AF65-F5344CB8AC3E}">
        <p14:creationId xmlns:p14="http://schemas.microsoft.com/office/powerpoint/2010/main" val="2346963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D665-48BE-DB12-8D2F-20F4CD3EC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792AE-C9C4-5B36-23C9-69BF2AACF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52F90-BD2A-9F7C-D266-CD21CAA08552}"/>
              </a:ext>
            </a:extLst>
          </p:cNvPr>
          <p:cNvSpPr>
            <a:spLocks noGrp="1"/>
          </p:cNvSpPr>
          <p:nvPr>
            <p:ph type="body" idx="1"/>
          </p:nvPr>
        </p:nvSpPr>
        <p:spPr/>
        <p:txBody>
          <a:bodyPr/>
          <a:lstStyle/>
          <a:p>
            <a:r>
              <a:rPr lang="en-US" dirty="0"/>
              <a:t>Our university database system consists of 10 interrelated tables, including Students, Instructors, Courses, Departments, and Semesters, as shown here. It supports key features like student enrollments, grade recording, course prerequisites, and scheduling across semesters. The design is scalable and efficient, enabling both transactional operations, like recording grades, and analytical queries, which we’ll demonstrate later in the presentation.</a:t>
            </a:r>
          </a:p>
        </p:txBody>
      </p:sp>
      <p:sp>
        <p:nvSpPr>
          <p:cNvPr id="4" name="Slide Number Placeholder 3">
            <a:extLst>
              <a:ext uri="{FF2B5EF4-FFF2-40B4-BE49-F238E27FC236}">
                <a16:creationId xmlns:a16="http://schemas.microsoft.com/office/drawing/2014/main" id="{B61EAC16-2F62-EC28-A269-5F83DA34485D}"/>
              </a:ext>
            </a:extLst>
          </p:cNvPr>
          <p:cNvSpPr>
            <a:spLocks noGrp="1"/>
          </p:cNvSpPr>
          <p:nvPr>
            <p:ph type="sldNum" sz="quarter" idx="5"/>
          </p:nvPr>
        </p:nvSpPr>
        <p:spPr/>
        <p:txBody>
          <a:bodyPr/>
          <a:lstStyle/>
          <a:p>
            <a:fld id="{94CAF780-8423-4125-BD97-E6FF2D5825A1}" type="slidenum">
              <a:rPr lang="en-CA" smtClean="0"/>
              <a:t>4</a:t>
            </a:fld>
            <a:endParaRPr lang="en-CA"/>
          </a:p>
        </p:txBody>
      </p:sp>
    </p:spTree>
    <p:extLst>
      <p:ext uri="{BB962C8B-B14F-4D97-AF65-F5344CB8AC3E}">
        <p14:creationId xmlns:p14="http://schemas.microsoft.com/office/powerpoint/2010/main" val="366313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1279B-C30B-EA71-C13B-FA05AB157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5ED38-4D37-62B0-896E-A70624E48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9CF02-89C9-6BE6-3536-BCFBAE5FA935}"/>
              </a:ext>
            </a:extLst>
          </p:cNvPr>
          <p:cNvSpPr>
            <a:spLocks noGrp="1"/>
          </p:cNvSpPr>
          <p:nvPr>
            <p:ph type="body" idx="1"/>
          </p:nvPr>
        </p:nvSpPr>
        <p:spPr/>
        <p:txBody>
          <a:bodyPr/>
          <a:lstStyle/>
          <a:p>
            <a:r>
              <a:rPr lang="en-US" dirty="0"/>
              <a:t>This is our ER Diagram, illustrating the relationships between the 10 tables in our system. For example, the Students table connects to Enrollments via </a:t>
            </a:r>
            <a:r>
              <a:rPr lang="en-US" dirty="0" err="1"/>
              <a:t>student_id</a:t>
            </a:r>
            <a:r>
              <a:rPr lang="en-US" dirty="0"/>
              <a:t>, which then links to Courses through </a:t>
            </a:r>
            <a:r>
              <a:rPr lang="en-US" dirty="0" err="1"/>
              <a:t>course_id</a:t>
            </a:r>
            <a:r>
              <a:rPr lang="en-US" dirty="0"/>
              <a:t>, tracking student enrollments. Junction tables like </a:t>
            </a:r>
            <a:r>
              <a:rPr lang="en-US" dirty="0" err="1"/>
              <a:t>Course_Semesters</a:t>
            </a:r>
            <a:r>
              <a:rPr lang="en-US" dirty="0"/>
              <a:t> map courses to semesters, and Prerequisites defines course dependencies. This design ensures data integrity and supports the features we outlined in the system overview.</a:t>
            </a:r>
          </a:p>
        </p:txBody>
      </p:sp>
      <p:sp>
        <p:nvSpPr>
          <p:cNvPr id="4" name="Slide Number Placeholder 3">
            <a:extLst>
              <a:ext uri="{FF2B5EF4-FFF2-40B4-BE49-F238E27FC236}">
                <a16:creationId xmlns:a16="http://schemas.microsoft.com/office/drawing/2014/main" id="{4C315F46-0209-C060-D562-4344476486ED}"/>
              </a:ext>
            </a:extLst>
          </p:cNvPr>
          <p:cNvSpPr>
            <a:spLocks noGrp="1"/>
          </p:cNvSpPr>
          <p:nvPr>
            <p:ph type="sldNum" sz="quarter" idx="5"/>
          </p:nvPr>
        </p:nvSpPr>
        <p:spPr/>
        <p:txBody>
          <a:bodyPr/>
          <a:lstStyle/>
          <a:p>
            <a:fld id="{94CAF780-8423-4125-BD97-E6FF2D5825A1}" type="slidenum">
              <a:rPr lang="en-CA" smtClean="0"/>
              <a:t>5</a:t>
            </a:fld>
            <a:endParaRPr lang="en-CA"/>
          </a:p>
        </p:txBody>
      </p:sp>
    </p:spTree>
    <p:extLst>
      <p:ext uri="{BB962C8B-B14F-4D97-AF65-F5344CB8AC3E}">
        <p14:creationId xmlns:p14="http://schemas.microsoft.com/office/powerpoint/2010/main" val="4245067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8CC1-CA5C-162D-B89E-296FE6899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22BB5-E0DE-2404-2F3E-AD4886D34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9CF5E-DECC-359E-91CA-DE7D86559E53}"/>
              </a:ext>
            </a:extLst>
          </p:cNvPr>
          <p:cNvSpPr>
            <a:spLocks noGrp="1"/>
          </p:cNvSpPr>
          <p:nvPr>
            <p:ph type="body" idx="1"/>
          </p:nvPr>
        </p:nvSpPr>
        <p:spPr/>
        <p:txBody>
          <a:bodyPr/>
          <a:lstStyle/>
          <a:p>
            <a:r>
              <a:rPr lang="en-US" dirty="0"/>
              <a:t>Our database design defines clear relationships, as shown here. For instance, one student can have multiple enrollments, a 1:N relationship between Students and Enrollments. The Courses and Semesters relationship is N:N, implemented through the </a:t>
            </a:r>
            <a:r>
              <a:rPr lang="en-US" dirty="0" err="1"/>
              <a:t>Course_Semesters</a:t>
            </a:r>
            <a:r>
              <a:rPr lang="en-US" dirty="0"/>
              <a:t> junction table. We normalized the database to the third normal form, or 3NF, to eliminate redundancy—for example, by separating the Addresses table to avoid duplicating address data.</a:t>
            </a:r>
          </a:p>
        </p:txBody>
      </p:sp>
      <p:sp>
        <p:nvSpPr>
          <p:cNvPr id="4" name="Slide Number Placeholder 3">
            <a:extLst>
              <a:ext uri="{FF2B5EF4-FFF2-40B4-BE49-F238E27FC236}">
                <a16:creationId xmlns:a16="http://schemas.microsoft.com/office/drawing/2014/main" id="{2831ECE7-6D77-EB92-E15B-20322C3B290E}"/>
              </a:ext>
            </a:extLst>
          </p:cNvPr>
          <p:cNvSpPr>
            <a:spLocks noGrp="1"/>
          </p:cNvSpPr>
          <p:nvPr>
            <p:ph type="sldNum" sz="quarter" idx="5"/>
          </p:nvPr>
        </p:nvSpPr>
        <p:spPr/>
        <p:txBody>
          <a:bodyPr/>
          <a:lstStyle/>
          <a:p>
            <a:fld id="{94CAF780-8423-4125-BD97-E6FF2D5825A1}" type="slidenum">
              <a:rPr lang="en-CA" smtClean="0"/>
              <a:t>6</a:t>
            </a:fld>
            <a:endParaRPr lang="en-CA"/>
          </a:p>
        </p:txBody>
      </p:sp>
    </p:spTree>
    <p:extLst>
      <p:ext uri="{BB962C8B-B14F-4D97-AF65-F5344CB8AC3E}">
        <p14:creationId xmlns:p14="http://schemas.microsoft.com/office/powerpoint/2010/main" val="2271486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41995-3B1C-85D1-013C-570AF58E3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E0F1-72C7-5240-F0DD-32C1F86EC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CF316-97A8-9D91-82C3-B5077B66CFC3}"/>
              </a:ext>
            </a:extLst>
          </p:cNvPr>
          <p:cNvSpPr>
            <a:spLocks noGrp="1"/>
          </p:cNvSpPr>
          <p:nvPr>
            <p:ph type="body" idx="1"/>
          </p:nvPr>
        </p:nvSpPr>
        <p:spPr/>
        <p:txBody>
          <a:bodyPr/>
          <a:lstStyle/>
          <a:p>
            <a:r>
              <a:rPr lang="en-US" dirty="0"/>
              <a:t>We used DDL commands to create our database tables, as shown here. For example, in the Students table, we set </a:t>
            </a:r>
            <a:r>
              <a:rPr lang="en-US" dirty="0" err="1"/>
              <a:t>student_id</a:t>
            </a:r>
            <a:r>
              <a:rPr lang="en-US" dirty="0"/>
              <a:t> as the primary key with AUTO_INCREMENT, made </a:t>
            </a:r>
            <a:r>
              <a:rPr lang="en-US" dirty="0" err="1"/>
              <a:t>first_name</a:t>
            </a:r>
            <a:r>
              <a:rPr lang="en-US" dirty="0"/>
              <a:t> and email mandatory with NOT NULL, and ensured email is unique with UNIQUE. Foreign keys, like </a:t>
            </a:r>
            <a:r>
              <a:rPr lang="en-US" dirty="0" err="1"/>
              <a:t>address_id</a:t>
            </a:r>
            <a:r>
              <a:rPr lang="en-US" dirty="0"/>
              <a:t>, link Students to Addresses, ensuring referential integrity across the system, aligning with our ER Diagram.</a:t>
            </a:r>
          </a:p>
        </p:txBody>
      </p:sp>
      <p:sp>
        <p:nvSpPr>
          <p:cNvPr id="4" name="Slide Number Placeholder 3">
            <a:extLst>
              <a:ext uri="{FF2B5EF4-FFF2-40B4-BE49-F238E27FC236}">
                <a16:creationId xmlns:a16="http://schemas.microsoft.com/office/drawing/2014/main" id="{2F4C6DA8-0F85-CAE0-C9D7-22EAA1ACBF9D}"/>
              </a:ext>
            </a:extLst>
          </p:cNvPr>
          <p:cNvSpPr>
            <a:spLocks noGrp="1"/>
          </p:cNvSpPr>
          <p:nvPr>
            <p:ph type="sldNum" sz="quarter" idx="5"/>
          </p:nvPr>
        </p:nvSpPr>
        <p:spPr/>
        <p:txBody>
          <a:bodyPr/>
          <a:lstStyle/>
          <a:p>
            <a:fld id="{94CAF780-8423-4125-BD97-E6FF2D5825A1}" type="slidenum">
              <a:rPr lang="en-CA" smtClean="0"/>
              <a:t>7</a:t>
            </a:fld>
            <a:endParaRPr lang="en-CA"/>
          </a:p>
        </p:txBody>
      </p:sp>
    </p:spTree>
    <p:extLst>
      <p:ext uri="{BB962C8B-B14F-4D97-AF65-F5344CB8AC3E}">
        <p14:creationId xmlns:p14="http://schemas.microsoft.com/office/powerpoint/2010/main" val="3243060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2E26E-348E-AA6D-0339-B5D60B2E1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3A805-2AFD-6F42-0E14-D99F14B7B8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5B320-6D52-C17A-EFE0-48B9229314AC}"/>
              </a:ext>
            </a:extLst>
          </p:cNvPr>
          <p:cNvSpPr>
            <a:spLocks noGrp="1"/>
          </p:cNvSpPr>
          <p:nvPr>
            <p:ph type="body" idx="1"/>
          </p:nvPr>
        </p:nvSpPr>
        <p:spPr/>
        <p:txBody>
          <a:bodyPr/>
          <a:lstStyle/>
          <a:p>
            <a:r>
              <a:rPr lang="en-US" dirty="0"/>
              <a:t>We populated our database using DML commands, inserting 70 students, 20 instructors, 50 courses, 10 departments, and 10 semesters, along with 100 enrollments, 100 grades, and 28 prerequisites, as shown here. For example, this INSERT command adds a student named John Doe with an email, date of birth, and address. We also tested UPDATE and DELETE operations to ensure the database can handle dynamic changes effectively.</a:t>
            </a:r>
          </a:p>
        </p:txBody>
      </p:sp>
      <p:sp>
        <p:nvSpPr>
          <p:cNvPr id="4" name="Slide Number Placeholder 3">
            <a:extLst>
              <a:ext uri="{FF2B5EF4-FFF2-40B4-BE49-F238E27FC236}">
                <a16:creationId xmlns:a16="http://schemas.microsoft.com/office/drawing/2014/main" id="{77BE10F4-7A9E-99C6-6D63-A7624CDF9798}"/>
              </a:ext>
            </a:extLst>
          </p:cNvPr>
          <p:cNvSpPr>
            <a:spLocks noGrp="1"/>
          </p:cNvSpPr>
          <p:nvPr>
            <p:ph type="sldNum" sz="quarter" idx="5"/>
          </p:nvPr>
        </p:nvSpPr>
        <p:spPr/>
        <p:txBody>
          <a:bodyPr/>
          <a:lstStyle/>
          <a:p>
            <a:fld id="{94CAF780-8423-4125-BD97-E6FF2D5825A1}" type="slidenum">
              <a:rPr lang="en-CA" smtClean="0"/>
              <a:t>8</a:t>
            </a:fld>
            <a:endParaRPr lang="en-CA"/>
          </a:p>
        </p:txBody>
      </p:sp>
    </p:spTree>
    <p:extLst>
      <p:ext uri="{BB962C8B-B14F-4D97-AF65-F5344CB8AC3E}">
        <p14:creationId xmlns:p14="http://schemas.microsoft.com/office/powerpoint/2010/main" val="2118735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2AC37-53CE-D647-6FEE-8E4DCE471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8B77A-29A6-567D-D952-DF3E738534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63126F-667C-49B7-3BCE-64870178D023}"/>
              </a:ext>
            </a:extLst>
          </p:cNvPr>
          <p:cNvSpPr>
            <a:spLocks noGrp="1"/>
          </p:cNvSpPr>
          <p:nvPr>
            <p:ph type="body" idx="1"/>
          </p:nvPr>
        </p:nvSpPr>
        <p:spPr/>
        <p:txBody>
          <a:bodyPr/>
          <a:lstStyle/>
          <a:p>
            <a:r>
              <a:rPr lang="en-US" dirty="0"/>
              <a:t>Now, let’s explore our first DQL report, which analyzes student performance by course. We used a CTE to calculate grade points—assigning 4 for an A, 3 for a B, and so on—and ranked students within each course using the RANK() function, as shown. For example, John Doe earned an A in Intro to Programming, while Jane Smith got a B in Calculus I. This report helps identify top performers and supports academic decision-making.</a:t>
            </a:r>
          </a:p>
        </p:txBody>
      </p:sp>
      <p:sp>
        <p:nvSpPr>
          <p:cNvPr id="4" name="Slide Number Placeholder 3">
            <a:extLst>
              <a:ext uri="{FF2B5EF4-FFF2-40B4-BE49-F238E27FC236}">
                <a16:creationId xmlns:a16="http://schemas.microsoft.com/office/drawing/2014/main" id="{80FF18F8-A9B2-A3CA-37EC-674D1AD187BF}"/>
              </a:ext>
            </a:extLst>
          </p:cNvPr>
          <p:cNvSpPr>
            <a:spLocks noGrp="1"/>
          </p:cNvSpPr>
          <p:nvPr>
            <p:ph type="sldNum" sz="quarter" idx="5"/>
          </p:nvPr>
        </p:nvSpPr>
        <p:spPr/>
        <p:txBody>
          <a:bodyPr/>
          <a:lstStyle/>
          <a:p>
            <a:fld id="{94CAF780-8423-4125-BD97-E6FF2D5825A1}" type="slidenum">
              <a:rPr lang="en-CA" smtClean="0"/>
              <a:t>9</a:t>
            </a:fld>
            <a:endParaRPr lang="en-CA"/>
          </a:p>
        </p:txBody>
      </p:sp>
    </p:spTree>
    <p:extLst>
      <p:ext uri="{BB962C8B-B14F-4D97-AF65-F5344CB8AC3E}">
        <p14:creationId xmlns:p14="http://schemas.microsoft.com/office/powerpoint/2010/main" val="2953332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31AE4-7C5F-8976-198F-1F45D7088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CD083-1ADD-A0D2-4CF2-D6E88F348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4165A-000D-DB22-AA08-BCBA939B9736}"/>
              </a:ext>
            </a:extLst>
          </p:cNvPr>
          <p:cNvSpPr>
            <a:spLocks noGrp="1"/>
          </p:cNvSpPr>
          <p:nvPr>
            <p:ph type="body" idx="1"/>
          </p:nvPr>
        </p:nvSpPr>
        <p:spPr/>
        <p:txBody>
          <a:bodyPr/>
          <a:lstStyle/>
          <a:p>
            <a:r>
              <a:rPr lang="en-US" dirty="0"/>
              <a:t>Our second DQL report calculates the average grade per department to assess academic performance. We used a CTE to compute grade points and averaged them by department, as shown. For example, Computer Science and Physics both have a 4.0 GPA, while Sociology averages 2.57. We also calculated the difference from the overall average GPA to highlight disparities, providing insights for curriculum adjustments or resource allocation.</a:t>
            </a:r>
          </a:p>
        </p:txBody>
      </p:sp>
      <p:sp>
        <p:nvSpPr>
          <p:cNvPr id="4" name="Slide Number Placeholder 3">
            <a:extLst>
              <a:ext uri="{FF2B5EF4-FFF2-40B4-BE49-F238E27FC236}">
                <a16:creationId xmlns:a16="http://schemas.microsoft.com/office/drawing/2014/main" id="{9E18FE80-CB59-44EA-0008-CC7BEED4B3AE}"/>
              </a:ext>
            </a:extLst>
          </p:cNvPr>
          <p:cNvSpPr>
            <a:spLocks noGrp="1"/>
          </p:cNvSpPr>
          <p:nvPr>
            <p:ph type="sldNum" sz="quarter" idx="5"/>
          </p:nvPr>
        </p:nvSpPr>
        <p:spPr/>
        <p:txBody>
          <a:bodyPr/>
          <a:lstStyle/>
          <a:p>
            <a:fld id="{94CAF780-8423-4125-BD97-E6FF2D5825A1}" type="slidenum">
              <a:rPr lang="en-CA" smtClean="0"/>
              <a:t>10</a:t>
            </a:fld>
            <a:endParaRPr lang="en-CA"/>
          </a:p>
        </p:txBody>
      </p:sp>
    </p:spTree>
    <p:extLst>
      <p:ext uri="{BB962C8B-B14F-4D97-AF65-F5344CB8AC3E}">
        <p14:creationId xmlns:p14="http://schemas.microsoft.com/office/powerpoint/2010/main" val="3977667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0F2AD-E688-A723-39F8-64A038479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56E43-E6BB-0A50-2A13-00DB22F77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2C43D-A3DE-B52C-E282-328D0E800148}"/>
              </a:ext>
            </a:extLst>
          </p:cNvPr>
          <p:cNvSpPr>
            <a:spLocks noGrp="1"/>
          </p:cNvSpPr>
          <p:nvPr>
            <p:ph type="body" idx="1"/>
          </p:nvPr>
        </p:nvSpPr>
        <p:spPr/>
        <p:txBody>
          <a:bodyPr/>
          <a:lstStyle/>
          <a:p>
            <a:r>
              <a:rPr lang="en-US" dirty="0"/>
              <a:t>Our third DQL report analyzes enrollment trends per semester to understand student engagement over time. Using a CTE, we counted enrollments per semester and calculated the percentage change from the previous semester with the LAG() function, as shown. For example, Fall 2023 had 20 enrollments, but Spring 2024 dropped to 10—a 50% decrease. This time-series analysis helps the university plan course offerings more effectively.</a:t>
            </a:r>
          </a:p>
        </p:txBody>
      </p:sp>
      <p:sp>
        <p:nvSpPr>
          <p:cNvPr id="4" name="Slide Number Placeholder 3">
            <a:extLst>
              <a:ext uri="{FF2B5EF4-FFF2-40B4-BE49-F238E27FC236}">
                <a16:creationId xmlns:a16="http://schemas.microsoft.com/office/drawing/2014/main" id="{10D802FA-8DE1-AAA6-9D9A-5D0629AA097D}"/>
              </a:ext>
            </a:extLst>
          </p:cNvPr>
          <p:cNvSpPr>
            <a:spLocks noGrp="1"/>
          </p:cNvSpPr>
          <p:nvPr>
            <p:ph type="sldNum" sz="quarter" idx="5"/>
          </p:nvPr>
        </p:nvSpPr>
        <p:spPr/>
        <p:txBody>
          <a:bodyPr/>
          <a:lstStyle/>
          <a:p>
            <a:fld id="{94CAF780-8423-4125-BD97-E6FF2D5825A1}" type="slidenum">
              <a:rPr lang="en-CA" smtClean="0"/>
              <a:t>11</a:t>
            </a:fld>
            <a:endParaRPr lang="en-CA"/>
          </a:p>
        </p:txBody>
      </p:sp>
    </p:spTree>
    <p:extLst>
      <p:ext uri="{BB962C8B-B14F-4D97-AF65-F5344CB8AC3E}">
        <p14:creationId xmlns:p14="http://schemas.microsoft.com/office/powerpoint/2010/main" val="3283190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7A06F-1777-D272-D4ED-BA252E182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28E05-BF76-D39B-E339-81644A1C4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E36EC-8183-5967-0154-AAB8A1102B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fourth DQL report examines courses and their prerequisites to understand curriculum dependencies. We used a CTE to list prerequisites for each course with GROUP_CONCAT and ranked courses by the number of prerequisites using DENSE_RANK(), as shown. For example, Astrophysics has Quantum Mechanics as a prerequisite, while Calculus I requires Intro to Programming. This analysis helps identify complex courses and optimize the curriculum structure.</a:t>
            </a:r>
          </a:p>
          <a:p>
            <a:endParaRPr lang="en-US" dirty="0"/>
          </a:p>
        </p:txBody>
      </p:sp>
      <p:sp>
        <p:nvSpPr>
          <p:cNvPr id="4" name="Slide Number Placeholder 3">
            <a:extLst>
              <a:ext uri="{FF2B5EF4-FFF2-40B4-BE49-F238E27FC236}">
                <a16:creationId xmlns:a16="http://schemas.microsoft.com/office/drawing/2014/main" id="{E180CD55-9455-6497-6BF3-FFDFF104F46D}"/>
              </a:ext>
            </a:extLst>
          </p:cNvPr>
          <p:cNvSpPr>
            <a:spLocks noGrp="1"/>
          </p:cNvSpPr>
          <p:nvPr>
            <p:ph type="sldNum" sz="quarter" idx="5"/>
          </p:nvPr>
        </p:nvSpPr>
        <p:spPr/>
        <p:txBody>
          <a:bodyPr/>
          <a:lstStyle/>
          <a:p>
            <a:fld id="{94CAF780-8423-4125-BD97-E6FF2D5825A1}" type="slidenum">
              <a:rPr lang="en-CA" smtClean="0"/>
              <a:t>12</a:t>
            </a:fld>
            <a:endParaRPr lang="en-CA"/>
          </a:p>
        </p:txBody>
      </p:sp>
    </p:spTree>
    <p:extLst>
      <p:ext uri="{BB962C8B-B14F-4D97-AF65-F5344CB8AC3E}">
        <p14:creationId xmlns:p14="http://schemas.microsoft.com/office/powerpoint/2010/main" val="307974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341B-9036-AA2B-7239-78BB006F3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0571A-6307-F81C-6BCC-C1B94C4EF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8D7C5-93AA-37A5-D717-2272CABE5456}"/>
              </a:ext>
            </a:extLst>
          </p:cNvPr>
          <p:cNvSpPr>
            <a:spLocks noGrp="1"/>
          </p:cNvSpPr>
          <p:nvPr>
            <p:ph type="body" idx="1"/>
          </p:nvPr>
        </p:nvSpPr>
        <p:spPr/>
        <p:txBody>
          <a:bodyPr/>
          <a:lstStyle/>
          <a:p>
            <a:r>
              <a:rPr lang="en-US" dirty="0"/>
              <a:t>Our database supports machine learning with datasets for predictive tasks, as shown here. For predicting grades, we use features like student average GPA and course credits; </a:t>
            </a:r>
          </a:p>
          <a:p>
            <a:r>
              <a:rPr lang="en-US" dirty="0"/>
              <a:t>for at-risk students, we track failed courses and semester grades; for course scheduling, we analyze enrollment counts and popularity ranks; and for instructor evaluation, we look at the number of students taught and average grades given. These datasets enable models to predict grades, identify at-risk students, optimize scheduling, or evaluate instructors.</a:t>
            </a:r>
          </a:p>
        </p:txBody>
      </p:sp>
      <p:sp>
        <p:nvSpPr>
          <p:cNvPr id="4" name="Slide Number Placeholder 3">
            <a:extLst>
              <a:ext uri="{FF2B5EF4-FFF2-40B4-BE49-F238E27FC236}">
                <a16:creationId xmlns:a16="http://schemas.microsoft.com/office/drawing/2014/main" id="{11A9F82E-70C3-4583-A95D-48F9D324F008}"/>
              </a:ext>
            </a:extLst>
          </p:cNvPr>
          <p:cNvSpPr>
            <a:spLocks noGrp="1"/>
          </p:cNvSpPr>
          <p:nvPr>
            <p:ph type="sldNum" sz="quarter" idx="5"/>
          </p:nvPr>
        </p:nvSpPr>
        <p:spPr/>
        <p:txBody>
          <a:bodyPr/>
          <a:lstStyle/>
          <a:p>
            <a:fld id="{94CAF780-8423-4125-BD97-E6FF2D5825A1}" type="slidenum">
              <a:rPr lang="en-CA" smtClean="0"/>
              <a:t>13</a:t>
            </a:fld>
            <a:endParaRPr lang="en-CA"/>
          </a:p>
        </p:txBody>
      </p:sp>
    </p:spTree>
    <p:extLst>
      <p:ext uri="{BB962C8B-B14F-4D97-AF65-F5344CB8AC3E}">
        <p14:creationId xmlns:p14="http://schemas.microsoft.com/office/powerpoint/2010/main" val="1425853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0C309-29D0-AAC9-2EFC-8EEBD44E0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B7D31-07D6-9615-B058-0A3E6E9D5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3C460-CFF9-6EA3-AF67-788A76CCB7F8}"/>
              </a:ext>
            </a:extLst>
          </p:cNvPr>
          <p:cNvSpPr>
            <a:spLocks noGrp="1"/>
          </p:cNvSpPr>
          <p:nvPr>
            <p:ph type="body" idx="1"/>
          </p:nvPr>
        </p:nvSpPr>
        <p:spPr/>
        <p:txBody>
          <a:bodyPr/>
          <a:lstStyle/>
          <a:p>
            <a:r>
              <a:rPr lang="en-US" dirty="0"/>
              <a:t>In conclusion, we’ve built a functional university database with 10 tables that supports academic operations, machine learning applications like predicting grades, and additional business analyses, as outlined in our objectives. For next steps, more tables could </a:t>
            </a:r>
            <a:r>
              <a:rPr lang="en-US"/>
              <a:t>be added for </a:t>
            </a:r>
            <a:r>
              <a:rPr lang="en-US" dirty="0"/>
              <a:t>events or libraries, implement triggers for automatic updates like GPA calculations, and develop a dashboard for interactive data visualization to enhance the system’s utility. Thank you!</a:t>
            </a:r>
          </a:p>
        </p:txBody>
      </p:sp>
      <p:sp>
        <p:nvSpPr>
          <p:cNvPr id="4" name="Slide Number Placeholder 3">
            <a:extLst>
              <a:ext uri="{FF2B5EF4-FFF2-40B4-BE49-F238E27FC236}">
                <a16:creationId xmlns:a16="http://schemas.microsoft.com/office/drawing/2014/main" id="{DE56CFCE-5AC5-BF42-F084-39BCCDC7F641}"/>
              </a:ext>
            </a:extLst>
          </p:cNvPr>
          <p:cNvSpPr>
            <a:spLocks noGrp="1"/>
          </p:cNvSpPr>
          <p:nvPr>
            <p:ph type="sldNum" sz="quarter" idx="5"/>
          </p:nvPr>
        </p:nvSpPr>
        <p:spPr/>
        <p:txBody>
          <a:bodyPr/>
          <a:lstStyle/>
          <a:p>
            <a:fld id="{94CAF780-8423-4125-BD97-E6FF2D5825A1}" type="slidenum">
              <a:rPr lang="en-CA" smtClean="0"/>
              <a:t>14</a:t>
            </a:fld>
            <a:endParaRPr lang="en-CA"/>
          </a:p>
        </p:txBody>
      </p:sp>
    </p:spTree>
    <p:extLst>
      <p:ext uri="{BB962C8B-B14F-4D97-AF65-F5344CB8AC3E}">
        <p14:creationId xmlns:p14="http://schemas.microsoft.com/office/powerpoint/2010/main" val="1252064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EAA6E-1BD5-2323-854D-12D27DFF5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1FCE8-9C03-E2AB-C021-3FB27B6F4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A9888-941D-2389-8815-FE191051D3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9259A-01CB-8F7C-59EB-9A3C7B86AB8E}"/>
              </a:ext>
            </a:extLst>
          </p:cNvPr>
          <p:cNvSpPr>
            <a:spLocks noGrp="1"/>
          </p:cNvSpPr>
          <p:nvPr>
            <p:ph type="sldNum" sz="quarter" idx="5"/>
          </p:nvPr>
        </p:nvSpPr>
        <p:spPr/>
        <p:txBody>
          <a:bodyPr/>
          <a:lstStyle/>
          <a:p>
            <a:fld id="{94CAF780-8423-4125-BD97-E6FF2D5825A1}" type="slidenum">
              <a:rPr lang="en-CA" smtClean="0"/>
              <a:t>15</a:t>
            </a:fld>
            <a:endParaRPr lang="en-CA"/>
          </a:p>
        </p:txBody>
      </p:sp>
    </p:spTree>
    <p:extLst>
      <p:ext uri="{BB962C8B-B14F-4D97-AF65-F5344CB8AC3E}">
        <p14:creationId xmlns:p14="http://schemas.microsoft.com/office/powerpoint/2010/main" val="129659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0FAC-6693-BF16-38C0-FA4F916FFEAC}"/>
              </a:ext>
            </a:extLst>
          </p:cNvPr>
          <p:cNvSpPr>
            <a:spLocks noGrp="1"/>
          </p:cNvSpPr>
          <p:nvPr>
            <p:ph type="ctrTitle"/>
          </p:nvPr>
        </p:nvSpPr>
        <p:spPr>
          <a:xfrm>
            <a:off x="838200" y="1122363"/>
            <a:ext cx="9144000" cy="2387600"/>
          </a:xfrm>
          <a:prstGeom prst="rect">
            <a:avLst/>
          </a:prstGeom>
        </p:spPr>
        <p:txBody>
          <a:bodyPr anchor="b"/>
          <a:lstStyle>
            <a:lvl1pPr algn="l">
              <a:defRPr sz="6000" b="1">
                <a:solidFill>
                  <a:srgbClr val="005687"/>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0779CB25-DF56-58C0-EBC6-DE5CA738C219}"/>
              </a:ext>
            </a:extLst>
          </p:cNvPr>
          <p:cNvSpPr>
            <a:spLocks noGrp="1"/>
          </p:cNvSpPr>
          <p:nvPr>
            <p:ph type="subTitle" idx="1"/>
          </p:nvPr>
        </p:nvSpPr>
        <p:spPr>
          <a:xfrm>
            <a:off x="838200" y="3602038"/>
            <a:ext cx="9144000" cy="1655762"/>
          </a:xfrm>
          <a:prstGeom prst="rect">
            <a:avLst/>
          </a:prstGeom>
        </p:spPr>
        <p:txBody>
          <a:bodyPr/>
          <a:lstStyle>
            <a:lvl1pPr marL="0" indent="0" algn="l">
              <a:buNone/>
              <a:defRPr sz="2400">
                <a:solidFill>
                  <a:srgbClr val="005687"/>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241413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DF8E-80B6-76BD-D9A3-7F53FA4726CB}"/>
              </a:ext>
            </a:extLst>
          </p:cNvPr>
          <p:cNvSpPr>
            <a:spLocks noGrp="1"/>
          </p:cNvSpPr>
          <p:nvPr>
            <p:ph type="title"/>
          </p:nvPr>
        </p:nvSpPr>
        <p:spPr>
          <a:xfrm>
            <a:off x="838200" y="784225"/>
            <a:ext cx="9156700" cy="587375"/>
          </a:xfrm>
          <a:prstGeom prst="rect">
            <a:avLst/>
          </a:prstGeom>
        </p:spPr>
        <p:txBody>
          <a:bodyPr/>
          <a:lstStyle>
            <a:lvl1pPr>
              <a:defRPr b="1">
                <a:solidFill>
                  <a:srgbClr val="005687"/>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B71DA30-DC58-8398-08D5-43F35E1E301A}"/>
              </a:ext>
            </a:extLst>
          </p:cNvPr>
          <p:cNvSpPr>
            <a:spLocks noGrp="1"/>
          </p:cNvSpPr>
          <p:nvPr>
            <p:ph idx="1"/>
          </p:nvPr>
        </p:nvSpPr>
        <p:spPr>
          <a:xfrm>
            <a:off x="838200" y="1825625"/>
            <a:ext cx="9156700" cy="4351338"/>
          </a:xfrm>
          <a:prstGeom prst="rect">
            <a:avLst/>
          </a:prstGeom>
        </p:spPr>
        <p:txBody>
          <a:bodyPr/>
          <a:lstStyle>
            <a:lvl1pPr marL="0" indent="0">
              <a:buNone/>
              <a:defRPr>
                <a:solidFill>
                  <a:srgbClr val="005687"/>
                </a:solidFill>
                <a:latin typeface="Arial" panose="020B0604020202020204" pitchFamily="34" charset="0"/>
                <a:cs typeface="Arial" panose="020B0604020202020204" pitchFamily="34" charset="0"/>
              </a:defRPr>
            </a:lvl1pPr>
            <a:lvl2pPr>
              <a:defRPr>
                <a:solidFill>
                  <a:srgbClr val="005687"/>
                </a:solidFill>
                <a:latin typeface="Arial" panose="020B0604020202020204" pitchFamily="34" charset="0"/>
                <a:cs typeface="Arial" panose="020B0604020202020204" pitchFamily="34" charset="0"/>
              </a:defRPr>
            </a:lvl2pPr>
            <a:lvl3pPr>
              <a:defRPr>
                <a:solidFill>
                  <a:srgbClr val="005687"/>
                </a:solidFill>
                <a:latin typeface="Arial" panose="020B0604020202020204" pitchFamily="34" charset="0"/>
                <a:cs typeface="Arial" panose="020B0604020202020204" pitchFamily="34" charset="0"/>
              </a:defRPr>
            </a:lvl3pPr>
            <a:lvl4pPr>
              <a:defRPr>
                <a:solidFill>
                  <a:srgbClr val="005687"/>
                </a:solidFill>
                <a:latin typeface="Arial" panose="020B0604020202020204" pitchFamily="34" charset="0"/>
                <a:cs typeface="Arial" panose="020B0604020202020204" pitchFamily="34" charset="0"/>
              </a:defRPr>
            </a:lvl4pPr>
            <a:lvl5pPr>
              <a:defRPr>
                <a:solidFill>
                  <a:srgbClr val="005687"/>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83834941-83E5-20E6-7517-B6AC2D834B19}"/>
              </a:ext>
            </a:extLst>
          </p:cNvPr>
          <p:cNvSpPr>
            <a:spLocks noGrp="1"/>
          </p:cNvSpPr>
          <p:nvPr>
            <p:ph type="ftr" sz="quarter" idx="11"/>
          </p:nvPr>
        </p:nvSpPr>
        <p:spPr>
          <a:xfrm>
            <a:off x="838200" y="315912"/>
            <a:ext cx="4114800" cy="365125"/>
          </a:xfrm>
          <a:prstGeom prst="rect">
            <a:avLst/>
          </a:prstGeom>
        </p:spPr>
        <p:txBody>
          <a:bodyPr/>
          <a:lstStyle>
            <a:lvl1pPr>
              <a:defRPr sz="1600" b="1">
                <a:solidFill>
                  <a:srgbClr val="00B1E1"/>
                </a:solidFill>
                <a:latin typeface="Arial" panose="020B0604020202020204" pitchFamily="34" charset="0"/>
                <a:cs typeface="Arial" panose="020B0604020202020204" pitchFamily="34" charset="0"/>
              </a:defRPr>
            </a:lvl1pPr>
          </a:lstStyle>
          <a:p>
            <a:r>
              <a:rPr lang="en-US" dirty="0"/>
              <a:t>OPTIONAL SECTION NAME</a:t>
            </a:r>
          </a:p>
        </p:txBody>
      </p:sp>
    </p:spTree>
    <p:extLst>
      <p:ext uri="{BB962C8B-B14F-4D97-AF65-F5344CB8AC3E}">
        <p14:creationId xmlns:p14="http://schemas.microsoft.com/office/powerpoint/2010/main" val="1313124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618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F09D7-6672-8628-1BF0-14EEDB976FDB}"/>
              </a:ext>
            </a:extLst>
          </p:cNvPr>
          <p:cNvSpPr>
            <a:spLocks noGrp="1"/>
          </p:cNvSpPr>
          <p:nvPr>
            <p:ph type="title"/>
          </p:nvPr>
        </p:nvSpPr>
        <p:spPr>
          <a:xfrm>
            <a:off x="839788" y="-58738"/>
            <a:ext cx="5840412" cy="1600200"/>
          </a:xfrm>
          <a:prstGeom prst="rect">
            <a:avLst/>
          </a:prstGeom>
        </p:spPr>
        <p:txBody>
          <a:bodyPr anchor="b"/>
          <a:lstStyle>
            <a:lvl1pPr>
              <a:defRPr sz="3200" b="1">
                <a:solidFill>
                  <a:srgbClr val="005687"/>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Picture Placeholder 2">
            <a:extLst>
              <a:ext uri="{FF2B5EF4-FFF2-40B4-BE49-F238E27FC236}">
                <a16:creationId xmlns:a16="http://schemas.microsoft.com/office/drawing/2014/main" id="{A2E0AC20-23D3-6D4B-C919-FFCFE5234B0B}"/>
              </a:ext>
            </a:extLst>
          </p:cNvPr>
          <p:cNvSpPr>
            <a:spLocks noGrp="1"/>
          </p:cNvSpPr>
          <p:nvPr>
            <p:ph type="pic" idx="1"/>
          </p:nvPr>
        </p:nvSpPr>
        <p:spPr>
          <a:xfrm>
            <a:off x="5183188" y="2049462"/>
            <a:ext cx="5065712" cy="438943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BF9743-313B-14ED-1392-BABF6A65927A}"/>
              </a:ext>
            </a:extLst>
          </p:cNvPr>
          <p:cNvSpPr>
            <a:spLocks noGrp="1"/>
          </p:cNvSpPr>
          <p:nvPr>
            <p:ph type="body" sz="half" idx="2"/>
          </p:nvPr>
        </p:nvSpPr>
        <p:spPr>
          <a:xfrm>
            <a:off x="839788" y="2049462"/>
            <a:ext cx="3932237" cy="4351338"/>
          </a:xfrm>
          <a:prstGeom prst="rect">
            <a:avLst/>
          </a:prstGeom>
        </p:spPr>
        <p:txBody>
          <a:bodyPr/>
          <a:lstStyle>
            <a:lvl1pPr marL="0" indent="0">
              <a:buNone/>
              <a:defRPr sz="1600">
                <a:solidFill>
                  <a:srgbClr val="005687"/>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5534600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6662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7"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large waterfall with a large body of water&#10;&#10;Description automatically generated">
            <a:extLst>
              <a:ext uri="{FF2B5EF4-FFF2-40B4-BE49-F238E27FC236}">
                <a16:creationId xmlns:a16="http://schemas.microsoft.com/office/drawing/2014/main" id="{C8B88B7B-9DB3-11CC-B77A-0982193A976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5" name="Subtitle 2">
            <a:extLst>
              <a:ext uri="{FF2B5EF4-FFF2-40B4-BE49-F238E27FC236}">
                <a16:creationId xmlns:a16="http://schemas.microsoft.com/office/drawing/2014/main" id="{90582B30-8681-7750-DE89-FDBF7DAA1147}"/>
              </a:ext>
            </a:extLst>
          </p:cNvPr>
          <p:cNvSpPr txBox="1">
            <a:spLocks/>
          </p:cNvSpPr>
          <p:nvPr/>
        </p:nvSpPr>
        <p:spPr>
          <a:xfrm>
            <a:off x="2919933" y="5060058"/>
            <a:ext cx="5766867" cy="815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dirty="0">
                <a:solidFill>
                  <a:srgbClr val="005687"/>
                </a:solidFill>
                <a:latin typeface="Arial" panose="020B0604020202020204" pitchFamily="34" charset="0"/>
                <a:cs typeface="Arial" panose="020B0604020202020204" pitchFamily="34" charset="0"/>
              </a:rPr>
              <a:t>Innovation Flows Here.</a:t>
            </a:r>
          </a:p>
        </p:txBody>
      </p:sp>
      <p:pic>
        <p:nvPicPr>
          <p:cNvPr id="6" name="Picture 5" descr="Blue text on a black background&#10;&#10;Description automatically generated">
            <a:extLst>
              <a:ext uri="{FF2B5EF4-FFF2-40B4-BE49-F238E27FC236}">
                <a16:creationId xmlns:a16="http://schemas.microsoft.com/office/drawing/2014/main" id="{AED8D039-3E74-D5A1-4FBC-461B93BC527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9431" y="2300444"/>
            <a:ext cx="7474360" cy="2257109"/>
          </a:xfrm>
          <a:prstGeom prst="rect">
            <a:avLst/>
          </a:prstGeom>
        </p:spPr>
      </p:pic>
      <p:pic>
        <p:nvPicPr>
          <p:cNvPr id="7" name="Picture 6">
            <a:extLst>
              <a:ext uri="{FF2B5EF4-FFF2-40B4-BE49-F238E27FC236}">
                <a16:creationId xmlns:a16="http://schemas.microsoft.com/office/drawing/2014/main" id="{59C9F7B0-8FF5-2199-353E-A9F7A34899A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73317" b="29406"/>
          <a:stretch/>
        </p:blipFill>
        <p:spPr>
          <a:xfrm>
            <a:off x="-713363" y="0"/>
            <a:ext cx="2372764" cy="1797939"/>
          </a:xfrm>
          <a:prstGeom prst="rect">
            <a:avLst/>
          </a:prstGeom>
        </p:spPr>
      </p:pic>
      <p:pic>
        <p:nvPicPr>
          <p:cNvPr id="8" name="Picture 7">
            <a:extLst>
              <a:ext uri="{FF2B5EF4-FFF2-40B4-BE49-F238E27FC236}">
                <a16:creationId xmlns:a16="http://schemas.microsoft.com/office/drawing/2014/main" id="{BE6C1939-2AC5-877B-95C1-5AA0F8BF1B1B}"/>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4352"/>
          <a:stretch/>
        </p:blipFill>
        <p:spPr>
          <a:xfrm>
            <a:off x="639431" y="5060062"/>
            <a:ext cx="1019970" cy="1885023"/>
          </a:xfrm>
          <a:prstGeom prst="rect">
            <a:avLst/>
          </a:prstGeom>
        </p:spPr>
      </p:pic>
    </p:spTree>
    <p:extLst>
      <p:ext uri="{BB962C8B-B14F-4D97-AF65-F5344CB8AC3E}">
        <p14:creationId xmlns:p14="http://schemas.microsoft.com/office/powerpoint/2010/main" val="319435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ppt_y</p:attrName>
                                        </p:attrNameLst>
                                      </p:cBhvr>
                                      <p:tavLst>
                                        <p:tav tm="0">
                                          <p:val>
                                            <p:strVal val="#ppt_y-#ppt_h*1.125000"/>
                                          </p:val>
                                        </p:tav>
                                        <p:tav tm="100000">
                                          <p:val>
                                            <p:strVal val="#ppt_y"/>
                                          </p:val>
                                        </p:tav>
                                      </p:tavLst>
                                    </p:anim>
                                    <p:animEffect transition="in" filter="wipe(down)">
                                      <p:cBhvr>
                                        <p:cTn id="8" dur="500"/>
                                        <p:tgtEl>
                                          <p:spTgt spid="6"/>
                                        </p:tgtEl>
                                      </p:cBhvr>
                                    </p:animEffect>
                                  </p:childTnLst>
                                </p:cTn>
                              </p:par>
                            </p:childTnLst>
                          </p:cTn>
                        </p:par>
                        <p:par>
                          <p:cTn id="9" fill="hold">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13"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558278-9F10-B435-F069-9F641C12F01A}"/>
              </a:ext>
            </a:extLst>
          </p:cNvPr>
          <p:cNvSpPr>
            <a:spLocks noGrp="1"/>
          </p:cNvSpPr>
          <p:nvPr>
            <p:ph type="ctrTitle"/>
          </p:nvPr>
        </p:nvSpPr>
        <p:spPr>
          <a:xfrm>
            <a:off x="838200" y="1122363"/>
            <a:ext cx="9144000" cy="1453197"/>
          </a:xfrm>
        </p:spPr>
        <p:txBody>
          <a:bodyPr/>
          <a:lstStyle/>
          <a:p>
            <a:pPr algn="ctr"/>
            <a:r>
              <a:rPr lang="en-US" sz="3200" dirty="0"/>
              <a:t>University Database System: Design and Implementation</a:t>
            </a:r>
            <a:endParaRPr lang="en-CA" sz="3200" dirty="0"/>
          </a:p>
        </p:txBody>
      </p:sp>
      <p:sp>
        <p:nvSpPr>
          <p:cNvPr id="5" name="Subtitle 4">
            <a:extLst>
              <a:ext uri="{FF2B5EF4-FFF2-40B4-BE49-F238E27FC236}">
                <a16:creationId xmlns:a16="http://schemas.microsoft.com/office/drawing/2014/main" id="{2443DBCF-FEB1-91BD-1D1D-66283D8329F8}"/>
              </a:ext>
            </a:extLst>
          </p:cNvPr>
          <p:cNvSpPr>
            <a:spLocks noGrp="1"/>
          </p:cNvSpPr>
          <p:nvPr>
            <p:ph type="subTitle" idx="1"/>
          </p:nvPr>
        </p:nvSpPr>
        <p:spPr>
          <a:xfrm>
            <a:off x="762000" y="3429000"/>
            <a:ext cx="9144000" cy="2439328"/>
          </a:xfrm>
        </p:spPr>
        <p:txBody>
          <a:bodyPr/>
          <a:lstStyle/>
          <a:p>
            <a:pPr algn="ctr">
              <a:lnSpc>
                <a:spcPct val="100000"/>
              </a:lnSpc>
              <a:spcAft>
                <a:spcPts val="800"/>
              </a:spcAft>
              <a:buNone/>
            </a:pPr>
            <a:r>
              <a:rPr lang="en-CA" sz="1800" kern="100" dirty="0">
                <a:effectLst/>
                <a:latin typeface="Times New Roman" panose="02020603050405020304" pitchFamily="18" charset="0"/>
                <a:ea typeface="Times New Roman" panose="02020603050405020304" pitchFamily="18" charset="0"/>
                <a:cs typeface="Arial" panose="020B0604020202020204" pitchFamily="34" charset="0"/>
              </a:rPr>
              <a:t>Andre de Breyne</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ctr">
              <a:lnSpc>
                <a:spcPct val="100000"/>
              </a:lnSpc>
              <a:spcAft>
                <a:spcPts val="800"/>
              </a:spcAft>
              <a:buNone/>
            </a:pPr>
            <a:r>
              <a:rPr lang="pt-BR" sz="1800" kern="100" dirty="0">
                <a:effectLst/>
                <a:latin typeface="Times New Roman" panose="02020603050405020304" pitchFamily="18" charset="0"/>
                <a:ea typeface="Times New Roman" panose="02020603050405020304" pitchFamily="18" charset="0"/>
                <a:cs typeface="Arial" panose="020B0604020202020204" pitchFamily="34" charset="0"/>
              </a:rPr>
              <a:t>Andre Ricardo Caralli Junior</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ctr">
              <a:lnSpc>
                <a:spcPct val="100000"/>
              </a:lnSpc>
              <a:spcAft>
                <a:spcPts val="800"/>
              </a:spcAft>
              <a:buNone/>
            </a:pPr>
            <a:r>
              <a:rPr lang="pt-BR" sz="1800" kern="100" dirty="0">
                <a:effectLst/>
                <a:latin typeface="Times New Roman" panose="02020603050405020304" pitchFamily="18" charset="0"/>
                <a:ea typeface="Times New Roman" panose="02020603050405020304" pitchFamily="18" charset="0"/>
                <a:cs typeface="Arial" panose="020B0604020202020204" pitchFamily="34" charset="0"/>
              </a:rPr>
              <a:t>Bruno de Arantes Leite </a:t>
            </a:r>
            <a:r>
              <a:rPr lang="pt-BR" sz="1800" kern="100" dirty="0">
                <a:latin typeface="Times New Roman" panose="02020603050405020304" pitchFamily="18" charset="0"/>
              </a:rPr>
              <a:t>Sassi</a:t>
            </a:r>
            <a:endParaRPr lang="en-US" sz="1800" kern="100" dirty="0">
              <a:latin typeface="Times New Roman" panose="02020603050405020304" pitchFamily="18" charset="0"/>
            </a:endParaRPr>
          </a:p>
          <a:p>
            <a:pPr algn="ctr">
              <a:lnSpc>
                <a:spcPct val="100000"/>
              </a:lnSpc>
              <a:spcAft>
                <a:spcPts val="800"/>
              </a:spcAft>
            </a:pPr>
            <a:r>
              <a:rPr lang="en-CA" sz="1800" kern="100" dirty="0">
                <a:latin typeface="Times New Roman" panose="02020603050405020304" pitchFamily="18" charset="0"/>
              </a:rPr>
              <a:t>Isaac </a:t>
            </a:r>
            <a:r>
              <a:rPr lang="en-CA" sz="1800" kern="100" dirty="0" err="1">
                <a:latin typeface="Times New Roman" panose="02020603050405020304" pitchFamily="18" charset="0"/>
              </a:rPr>
              <a:t>Inalegwu</a:t>
            </a:r>
            <a:r>
              <a:rPr lang="en-CA" sz="1800" kern="100" dirty="0">
                <a:latin typeface="Times New Roman" panose="02020603050405020304" pitchFamily="18" charset="0"/>
              </a:rPr>
              <a:t> Agba</a:t>
            </a:r>
          </a:p>
          <a:p>
            <a:pPr algn="ctr">
              <a:lnSpc>
                <a:spcPct val="100000"/>
              </a:lnSpc>
              <a:spcAft>
                <a:spcPts val="800"/>
              </a:spcAft>
            </a:pPr>
            <a:r>
              <a:rPr lang="en-CA" sz="1800" kern="100" dirty="0">
                <a:latin typeface="Times New Roman" panose="02020603050405020304" pitchFamily="18" charset="0"/>
              </a:rPr>
              <a:t>2025/03/25</a:t>
            </a:r>
            <a:endParaRPr lang="en-US" sz="1800" kern="100" dirty="0">
              <a:latin typeface="Times New Roman" panose="02020603050405020304" pitchFamily="18" charset="0"/>
            </a:endParaRPr>
          </a:p>
        </p:txBody>
      </p:sp>
    </p:spTree>
    <p:extLst>
      <p:ext uri="{BB962C8B-B14F-4D97-AF65-F5344CB8AC3E}">
        <p14:creationId xmlns:p14="http://schemas.microsoft.com/office/powerpoint/2010/main" val="338356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7D16D-3FA4-6AF0-CBBB-2DE3D7924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F3847-69EA-797F-FB9C-474D701C0743}"/>
              </a:ext>
            </a:extLst>
          </p:cNvPr>
          <p:cNvSpPr>
            <a:spLocks noGrp="1"/>
          </p:cNvSpPr>
          <p:nvPr>
            <p:ph type="title"/>
          </p:nvPr>
        </p:nvSpPr>
        <p:spPr/>
        <p:txBody>
          <a:bodyPr/>
          <a:lstStyle/>
          <a:p>
            <a:r>
              <a:rPr lang="en-US" sz="3200" dirty="0"/>
              <a:t>Project Objective</a:t>
            </a:r>
          </a:p>
        </p:txBody>
      </p:sp>
      <p:sp>
        <p:nvSpPr>
          <p:cNvPr id="16" name="TextBox 15">
            <a:extLst>
              <a:ext uri="{FF2B5EF4-FFF2-40B4-BE49-F238E27FC236}">
                <a16:creationId xmlns:a16="http://schemas.microsoft.com/office/drawing/2014/main" id="{7C0F8ADC-F270-FE0D-335F-E8E39B1F13C9}"/>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5" name="Rectangle 2">
            <a:extLst>
              <a:ext uri="{FF2B5EF4-FFF2-40B4-BE49-F238E27FC236}">
                <a16:creationId xmlns:a16="http://schemas.microsoft.com/office/drawing/2014/main" id="{4E8FEB6A-B75F-090A-92D8-2AAF32B94568}"/>
              </a:ext>
            </a:extLst>
          </p:cNvPr>
          <p:cNvSpPr>
            <a:spLocks noChangeArrowheads="1"/>
          </p:cNvSpPr>
          <p:nvPr/>
        </p:nvSpPr>
        <p:spPr bwMode="auto">
          <a:xfrm>
            <a:off x="1137920" y="2416580"/>
            <a:ext cx="7325360"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15000"/>
              </a:lnSpc>
              <a:spcAft>
                <a:spcPts val="800"/>
              </a:spcAft>
              <a:buFont typeface="Arial" panose="020B0604020202020204" pitchFamily="34" charset="0"/>
              <a:buChar char="•"/>
            </a:pPr>
            <a:r>
              <a:rPr lang="en-US" sz="2000" dirty="0"/>
              <a:t>Develop a database to manage university academic operations.</a:t>
            </a:r>
          </a:p>
          <a:p>
            <a:pPr marL="285750" indent="-285750">
              <a:lnSpc>
                <a:spcPct val="115000"/>
              </a:lnSpc>
              <a:spcAft>
                <a:spcPts val="800"/>
              </a:spcAft>
              <a:buFont typeface="Arial" panose="020B0604020202020204" pitchFamily="34" charset="0"/>
              <a:buChar char="•"/>
            </a:pPr>
            <a:r>
              <a:rPr lang="en-US" sz="2000" dirty="0"/>
              <a:t>Support student enrollments, grades, courses, semesters, and prerequisites.</a:t>
            </a:r>
          </a:p>
          <a:p>
            <a:pPr marL="285750" indent="-285750">
              <a:lnSpc>
                <a:spcPct val="115000"/>
              </a:lnSpc>
              <a:spcAft>
                <a:spcPts val="800"/>
              </a:spcAft>
              <a:buFont typeface="Arial" panose="020B0604020202020204" pitchFamily="34" charset="0"/>
              <a:buChar char="•"/>
            </a:pPr>
            <a:r>
              <a:rPr lang="en-US" sz="2000" dirty="0"/>
              <a:t>Generate datasets for machine learning (e.g., predicting student performance)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7591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EED7-52FD-BA91-469E-43D54CB23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86B58-4AA5-7FF3-0CF3-CEE21A782230}"/>
              </a:ext>
            </a:extLst>
          </p:cNvPr>
          <p:cNvSpPr>
            <a:spLocks noGrp="1"/>
          </p:cNvSpPr>
          <p:nvPr>
            <p:ph type="title"/>
          </p:nvPr>
        </p:nvSpPr>
        <p:spPr/>
        <p:txBody>
          <a:bodyPr/>
          <a:lstStyle/>
          <a:p>
            <a:r>
              <a:rPr lang="en-US" sz="3200" dirty="0"/>
              <a:t>System Overview</a:t>
            </a:r>
          </a:p>
        </p:txBody>
      </p:sp>
      <p:sp>
        <p:nvSpPr>
          <p:cNvPr id="16" name="TextBox 15">
            <a:extLst>
              <a:ext uri="{FF2B5EF4-FFF2-40B4-BE49-F238E27FC236}">
                <a16:creationId xmlns:a16="http://schemas.microsoft.com/office/drawing/2014/main" id="{AB7BBEDD-A168-51C2-1A6E-CDA7AC42E175}"/>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5" name="Rectangle 2">
            <a:extLst>
              <a:ext uri="{FF2B5EF4-FFF2-40B4-BE49-F238E27FC236}">
                <a16:creationId xmlns:a16="http://schemas.microsoft.com/office/drawing/2014/main" id="{1CB1082E-F198-C768-6D78-CE0FD70DDCCB}"/>
              </a:ext>
            </a:extLst>
          </p:cNvPr>
          <p:cNvSpPr>
            <a:spLocks noChangeArrowheads="1"/>
          </p:cNvSpPr>
          <p:nvPr/>
        </p:nvSpPr>
        <p:spPr bwMode="auto">
          <a:xfrm>
            <a:off x="1090314" y="1916727"/>
            <a:ext cx="682940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ü"/>
            </a:pPr>
            <a:r>
              <a:rPr lang="en-US" sz="2000" dirty="0"/>
              <a:t>10 interrelated tables.</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Key entities: Students, Instructors, Courses, Departments, Semesters.</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Features: Enrollments, grading, prerequisites, course scheduling.</a:t>
            </a:r>
          </a:p>
        </p:txBody>
      </p:sp>
    </p:spTree>
    <p:extLst>
      <p:ext uri="{BB962C8B-B14F-4D97-AF65-F5344CB8AC3E}">
        <p14:creationId xmlns:p14="http://schemas.microsoft.com/office/powerpoint/2010/main" val="1040419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9CF55-8354-FC23-2135-768D5A502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BCAD1-3EA7-E2F0-C1C8-2DDFE7639494}"/>
              </a:ext>
            </a:extLst>
          </p:cNvPr>
          <p:cNvSpPr>
            <a:spLocks noGrp="1"/>
          </p:cNvSpPr>
          <p:nvPr>
            <p:ph type="title"/>
          </p:nvPr>
        </p:nvSpPr>
        <p:spPr/>
        <p:txBody>
          <a:bodyPr/>
          <a:lstStyle/>
          <a:p>
            <a:r>
              <a:rPr lang="en-US" sz="3200" dirty="0"/>
              <a:t>ER Diagram</a:t>
            </a:r>
          </a:p>
        </p:txBody>
      </p:sp>
      <p:sp>
        <p:nvSpPr>
          <p:cNvPr id="16" name="TextBox 15">
            <a:extLst>
              <a:ext uri="{FF2B5EF4-FFF2-40B4-BE49-F238E27FC236}">
                <a16:creationId xmlns:a16="http://schemas.microsoft.com/office/drawing/2014/main" id="{C8F879E3-F8E0-BD57-217B-8C3A77AC0F48}"/>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pic>
        <p:nvPicPr>
          <p:cNvPr id="7" name="Picture 6" descr="A diagram of a student&#10;&#10;AI-generated content may be incorrect.">
            <a:extLst>
              <a:ext uri="{FF2B5EF4-FFF2-40B4-BE49-F238E27FC236}">
                <a16:creationId xmlns:a16="http://schemas.microsoft.com/office/drawing/2014/main" id="{1E31A48E-0890-132A-3F4A-CD11A99EA104}"/>
              </a:ext>
            </a:extLst>
          </p:cNvPr>
          <p:cNvPicPr>
            <a:picLocks noChangeAspect="1"/>
          </p:cNvPicPr>
          <p:nvPr/>
        </p:nvPicPr>
        <p:blipFill>
          <a:blip r:embed="rId3"/>
          <a:stretch>
            <a:fillRect/>
          </a:stretch>
        </p:blipFill>
        <p:spPr>
          <a:xfrm>
            <a:off x="4253948" y="1094596"/>
            <a:ext cx="6465404" cy="5772683"/>
          </a:xfrm>
          <a:prstGeom prst="rect">
            <a:avLst/>
          </a:prstGeom>
        </p:spPr>
      </p:pic>
    </p:spTree>
    <p:extLst>
      <p:ext uri="{BB962C8B-B14F-4D97-AF65-F5344CB8AC3E}">
        <p14:creationId xmlns:p14="http://schemas.microsoft.com/office/powerpoint/2010/main" val="1187925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B19B-A7B8-38BC-6FF4-8F752D790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BB40-B3D8-125F-2213-33958D5E4784}"/>
              </a:ext>
            </a:extLst>
          </p:cNvPr>
          <p:cNvSpPr>
            <a:spLocks noGrp="1"/>
          </p:cNvSpPr>
          <p:nvPr>
            <p:ph type="title"/>
          </p:nvPr>
        </p:nvSpPr>
        <p:spPr>
          <a:xfrm>
            <a:off x="858520" y="558392"/>
            <a:ext cx="9156700" cy="587375"/>
          </a:xfrm>
        </p:spPr>
        <p:txBody>
          <a:bodyPr/>
          <a:lstStyle/>
          <a:p>
            <a:r>
              <a:rPr lang="en-US" sz="3200" dirty="0"/>
              <a:t>Database Design: Relationships and Normalization</a:t>
            </a:r>
          </a:p>
        </p:txBody>
      </p:sp>
      <p:sp>
        <p:nvSpPr>
          <p:cNvPr id="16" name="TextBox 15">
            <a:extLst>
              <a:ext uri="{FF2B5EF4-FFF2-40B4-BE49-F238E27FC236}">
                <a16:creationId xmlns:a16="http://schemas.microsoft.com/office/drawing/2014/main" id="{77B4B2B0-F4E3-ED1C-4490-A933DA0A2B55}"/>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4" name="TextBox 3">
            <a:extLst>
              <a:ext uri="{FF2B5EF4-FFF2-40B4-BE49-F238E27FC236}">
                <a16:creationId xmlns:a16="http://schemas.microsoft.com/office/drawing/2014/main" id="{D62E04F6-3C3A-57AB-99C0-03B33D1AAE0F}"/>
              </a:ext>
            </a:extLst>
          </p:cNvPr>
          <p:cNvSpPr txBox="1"/>
          <p:nvPr/>
        </p:nvSpPr>
        <p:spPr>
          <a:xfrm>
            <a:off x="1055370" y="2282146"/>
            <a:ext cx="9013190" cy="2251642"/>
          </a:xfrm>
          <a:prstGeom prst="rect">
            <a:avLst/>
          </a:prstGeom>
          <a:noFill/>
        </p:spPr>
        <p:txBody>
          <a:bodyPr wrap="square">
            <a:spAutoFit/>
          </a:bodyPr>
          <a:lstStyle/>
          <a:p>
            <a:pPr lvl="0">
              <a:lnSpc>
                <a:spcPct val="115000"/>
              </a:lnSpc>
              <a:spcAft>
                <a:spcPts val="800"/>
              </a:spcAft>
              <a:buSzPts val="1000"/>
              <a:tabLst>
                <a:tab pos="457200" algn="l"/>
              </a:tabLst>
            </a:pPr>
            <a:r>
              <a:rPr lang="en-US" sz="2000" dirty="0"/>
              <a:t>•	Relationships: </a:t>
            </a:r>
          </a:p>
          <a:p>
            <a:pPr lvl="0">
              <a:lnSpc>
                <a:spcPct val="115000"/>
              </a:lnSpc>
              <a:spcAft>
                <a:spcPts val="800"/>
              </a:spcAft>
              <a:buSzPts val="1000"/>
              <a:tabLst>
                <a:tab pos="457200" algn="l"/>
              </a:tabLst>
            </a:pPr>
            <a:r>
              <a:rPr lang="en-US" sz="2000" dirty="0"/>
              <a:t>Students 1:N Enrollments.</a:t>
            </a:r>
          </a:p>
          <a:p>
            <a:pPr lvl="0">
              <a:lnSpc>
                <a:spcPct val="115000"/>
              </a:lnSpc>
              <a:spcAft>
                <a:spcPts val="800"/>
              </a:spcAft>
              <a:buSzPts val="1000"/>
              <a:tabLst>
                <a:tab pos="457200" algn="l"/>
              </a:tabLst>
            </a:pPr>
            <a:r>
              <a:rPr lang="en-US" sz="2000" dirty="0"/>
              <a:t>Courses N:N Semesters (via </a:t>
            </a:r>
            <a:r>
              <a:rPr lang="en-US" sz="2000" dirty="0" err="1"/>
              <a:t>Course_Semesters</a:t>
            </a:r>
            <a:r>
              <a:rPr lang="en-US" sz="2000" dirty="0"/>
              <a:t>).</a:t>
            </a:r>
          </a:p>
          <a:p>
            <a:pPr lvl="0">
              <a:lnSpc>
                <a:spcPct val="115000"/>
              </a:lnSpc>
              <a:spcAft>
                <a:spcPts val="800"/>
              </a:spcAft>
              <a:buSzPts val="1000"/>
              <a:tabLst>
                <a:tab pos="457200" algn="l"/>
              </a:tabLst>
            </a:pPr>
            <a:r>
              <a:rPr lang="en-US" sz="2000" dirty="0"/>
              <a:t>•	Normalization: </a:t>
            </a:r>
          </a:p>
          <a:p>
            <a:pPr lvl="0">
              <a:lnSpc>
                <a:spcPct val="115000"/>
              </a:lnSpc>
              <a:spcAft>
                <a:spcPts val="800"/>
              </a:spcAft>
              <a:buSzPts val="1000"/>
              <a:tabLst>
                <a:tab pos="457200" algn="l"/>
              </a:tabLst>
            </a:pPr>
            <a:r>
              <a:rPr lang="en-US" sz="2000" dirty="0"/>
              <a:t>Up to 3NF (e.g., Addresses separated to avoid redundancy).</a:t>
            </a:r>
          </a:p>
        </p:txBody>
      </p:sp>
    </p:spTree>
    <p:extLst>
      <p:ext uri="{BB962C8B-B14F-4D97-AF65-F5344CB8AC3E}">
        <p14:creationId xmlns:p14="http://schemas.microsoft.com/office/powerpoint/2010/main" val="1828322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E8066-A506-D770-4B55-7ED08952F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16E7F-AE05-D20A-ED1F-732D14217D60}"/>
              </a:ext>
            </a:extLst>
          </p:cNvPr>
          <p:cNvSpPr>
            <a:spLocks noGrp="1"/>
          </p:cNvSpPr>
          <p:nvPr>
            <p:ph type="title"/>
          </p:nvPr>
        </p:nvSpPr>
        <p:spPr>
          <a:xfrm>
            <a:off x="858520" y="558392"/>
            <a:ext cx="9156700" cy="587375"/>
          </a:xfrm>
        </p:spPr>
        <p:txBody>
          <a:bodyPr/>
          <a:lstStyle/>
          <a:p>
            <a:r>
              <a:rPr lang="en-US" sz="3200" dirty="0"/>
              <a:t>DDL: Database Creation</a:t>
            </a:r>
          </a:p>
        </p:txBody>
      </p:sp>
      <p:sp>
        <p:nvSpPr>
          <p:cNvPr id="16" name="TextBox 15">
            <a:extLst>
              <a:ext uri="{FF2B5EF4-FFF2-40B4-BE49-F238E27FC236}">
                <a16:creationId xmlns:a16="http://schemas.microsoft.com/office/drawing/2014/main" id="{3A511E7D-D7F8-5E76-D31A-C2355DD2B4B6}"/>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pic>
        <p:nvPicPr>
          <p:cNvPr id="4" name="Picture 3">
            <a:extLst>
              <a:ext uri="{FF2B5EF4-FFF2-40B4-BE49-F238E27FC236}">
                <a16:creationId xmlns:a16="http://schemas.microsoft.com/office/drawing/2014/main" id="{FE07568A-ED01-CE15-E0D4-3EFC479A3BBD}"/>
              </a:ext>
            </a:extLst>
          </p:cNvPr>
          <p:cNvPicPr>
            <a:picLocks noChangeAspect="1"/>
          </p:cNvPicPr>
          <p:nvPr/>
        </p:nvPicPr>
        <p:blipFill>
          <a:blip r:embed="rId3"/>
          <a:stretch>
            <a:fillRect/>
          </a:stretch>
        </p:blipFill>
        <p:spPr>
          <a:xfrm>
            <a:off x="1022791" y="1902985"/>
            <a:ext cx="4406132" cy="2493684"/>
          </a:xfrm>
          <a:prstGeom prst="rect">
            <a:avLst/>
          </a:prstGeom>
        </p:spPr>
      </p:pic>
      <p:pic>
        <p:nvPicPr>
          <p:cNvPr id="8" name="Picture 7">
            <a:extLst>
              <a:ext uri="{FF2B5EF4-FFF2-40B4-BE49-F238E27FC236}">
                <a16:creationId xmlns:a16="http://schemas.microsoft.com/office/drawing/2014/main" id="{D2C70B62-85BC-ED04-971E-3848CCE3A96D}"/>
              </a:ext>
            </a:extLst>
          </p:cNvPr>
          <p:cNvPicPr>
            <a:picLocks noChangeAspect="1"/>
          </p:cNvPicPr>
          <p:nvPr/>
        </p:nvPicPr>
        <p:blipFill>
          <a:blip r:embed="rId4"/>
          <a:stretch>
            <a:fillRect/>
          </a:stretch>
        </p:blipFill>
        <p:spPr>
          <a:xfrm>
            <a:off x="5529838" y="1902985"/>
            <a:ext cx="4915326" cy="2438611"/>
          </a:xfrm>
          <a:prstGeom prst="rect">
            <a:avLst/>
          </a:prstGeom>
        </p:spPr>
      </p:pic>
      <p:sp>
        <p:nvSpPr>
          <p:cNvPr id="9" name="Rectangle 1">
            <a:extLst>
              <a:ext uri="{FF2B5EF4-FFF2-40B4-BE49-F238E27FC236}">
                <a16:creationId xmlns:a16="http://schemas.microsoft.com/office/drawing/2014/main" id="{7C25707B-97E2-E187-C4C0-EBEBD64B3530}"/>
              </a:ext>
            </a:extLst>
          </p:cNvPr>
          <p:cNvSpPr>
            <a:spLocks noChangeArrowheads="1"/>
          </p:cNvSpPr>
          <p:nvPr/>
        </p:nvSpPr>
        <p:spPr bwMode="auto">
          <a:xfrm>
            <a:off x="1109367" y="4545282"/>
            <a:ext cx="884094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CREATE TABLE to define tables.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Constraints: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PRIMARY KEY, FOREIGN KEY, NOT NULL, UNIQUE.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362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E882D-5BFB-F67E-9F6C-AB621040E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CEF70-22DA-5C91-6388-91D3D17BE8A7}"/>
              </a:ext>
            </a:extLst>
          </p:cNvPr>
          <p:cNvSpPr>
            <a:spLocks noGrp="1"/>
          </p:cNvSpPr>
          <p:nvPr>
            <p:ph type="title"/>
          </p:nvPr>
        </p:nvSpPr>
        <p:spPr>
          <a:xfrm>
            <a:off x="858520" y="558392"/>
            <a:ext cx="9156700" cy="587375"/>
          </a:xfrm>
        </p:spPr>
        <p:txBody>
          <a:bodyPr/>
          <a:lstStyle/>
          <a:p>
            <a:r>
              <a:rPr lang="en-US" sz="3200" dirty="0"/>
              <a:t>DML: Data Population</a:t>
            </a:r>
          </a:p>
        </p:txBody>
      </p:sp>
      <p:sp>
        <p:nvSpPr>
          <p:cNvPr id="16" name="TextBox 15">
            <a:extLst>
              <a:ext uri="{FF2B5EF4-FFF2-40B4-BE49-F238E27FC236}">
                <a16:creationId xmlns:a16="http://schemas.microsoft.com/office/drawing/2014/main" id="{EC7D9471-2E64-CDF5-2B73-8B427ADFBCFD}"/>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3" name="Rectangle 1">
            <a:extLst>
              <a:ext uri="{FF2B5EF4-FFF2-40B4-BE49-F238E27FC236}">
                <a16:creationId xmlns:a16="http://schemas.microsoft.com/office/drawing/2014/main" id="{B2E347D7-AE2C-0ED5-5C69-EC2A32A9158A}"/>
              </a:ext>
            </a:extLst>
          </p:cNvPr>
          <p:cNvSpPr>
            <a:spLocks noChangeArrowheads="1"/>
          </p:cNvSpPr>
          <p:nvPr/>
        </p:nvSpPr>
        <p:spPr bwMode="auto">
          <a:xfrm>
            <a:off x="919480" y="1824394"/>
            <a:ext cx="67056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Data inserted: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70 students, 20 instructors, 50 courses, 10 departments, 10 semesters.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70 enrollments, 70 grades, 28 prerequisites.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B75008D7-89AD-14B6-6D23-5156DA681CEB}"/>
              </a:ext>
            </a:extLst>
          </p:cNvPr>
          <p:cNvPicPr>
            <a:picLocks noChangeAspect="1"/>
          </p:cNvPicPr>
          <p:nvPr/>
        </p:nvPicPr>
        <p:blipFill>
          <a:blip r:embed="rId3"/>
          <a:stretch>
            <a:fillRect/>
          </a:stretch>
        </p:blipFill>
        <p:spPr>
          <a:xfrm>
            <a:off x="5029563" y="3686840"/>
            <a:ext cx="5709557" cy="2887752"/>
          </a:xfrm>
          <a:prstGeom prst="rect">
            <a:avLst/>
          </a:prstGeom>
        </p:spPr>
      </p:pic>
      <p:sp>
        <p:nvSpPr>
          <p:cNvPr id="6" name="TextBox 5">
            <a:extLst>
              <a:ext uri="{FF2B5EF4-FFF2-40B4-BE49-F238E27FC236}">
                <a16:creationId xmlns:a16="http://schemas.microsoft.com/office/drawing/2014/main" id="{A80B40F8-92BA-BA3E-B2C3-F4B70BB0C532}"/>
              </a:ext>
            </a:extLst>
          </p:cNvPr>
          <p:cNvSpPr txBox="1"/>
          <p:nvPr/>
        </p:nvSpPr>
        <p:spPr>
          <a:xfrm>
            <a:off x="3931920" y="3947160"/>
            <a:ext cx="1039708" cy="369332"/>
          </a:xfrm>
          <a:prstGeom prst="rect">
            <a:avLst/>
          </a:prstGeom>
          <a:noFill/>
        </p:spPr>
        <p:txBody>
          <a:bodyPr wrap="none" rtlCol="0">
            <a:spAutoFit/>
          </a:bodyPr>
          <a:lstStyle/>
          <a:p>
            <a:r>
              <a:rPr lang="en-CA" dirty="0"/>
              <a:t>Example:</a:t>
            </a:r>
            <a:endParaRPr lang="en-US" dirty="0"/>
          </a:p>
        </p:txBody>
      </p:sp>
    </p:spTree>
    <p:extLst>
      <p:ext uri="{BB962C8B-B14F-4D97-AF65-F5344CB8AC3E}">
        <p14:creationId xmlns:p14="http://schemas.microsoft.com/office/powerpoint/2010/main" val="381279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AEE70-9645-3171-770A-066B4E1AE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2A61C-280B-13A7-C743-6BD382FF5D26}"/>
              </a:ext>
            </a:extLst>
          </p:cNvPr>
          <p:cNvSpPr>
            <a:spLocks noGrp="1"/>
          </p:cNvSpPr>
          <p:nvPr>
            <p:ph type="title"/>
          </p:nvPr>
        </p:nvSpPr>
        <p:spPr>
          <a:xfrm>
            <a:off x="858520" y="558392"/>
            <a:ext cx="9156700" cy="587375"/>
          </a:xfrm>
        </p:spPr>
        <p:txBody>
          <a:bodyPr/>
          <a:lstStyle/>
          <a:p>
            <a:r>
              <a:rPr lang="en-US" sz="3200" dirty="0"/>
              <a:t>DQL: Reports and Analysis (Part 1 - University System)</a:t>
            </a:r>
          </a:p>
        </p:txBody>
      </p:sp>
      <p:sp>
        <p:nvSpPr>
          <p:cNvPr id="16" name="TextBox 15">
            <a:extLst>
              <a:ext uri="{FF2B5EF4-FFF2-40B4-BE49-F238E27FC236}">
                <a16:creationId xmlns:a16="http://schemas.microsoft.com/office/drawing/2014/main" id="{21A1ACA4-DA41-F2B4-8F24-A021D73363CF}"/>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2BD0D16D-A880-BC78-8AED-0DD689708262}"/>
              </a:ext>
            </a:extLst>
          </p:cNvPr>
          <p:cNvSpPr txBox="1"/>
          <p:nvPr/>
        </p:nvSpPr>
        <p:spPr>
          <a:xfrm>
            <a:off x="858520" y="1801614"/>
            <a:ext cx="7231380" cy="369332"/>
          </a:xfrm>
          <a:prstGeom prst="rect">
            <a:avLst/>
          </a:prstGeom>
          <a:noFill/>
        </p:spPr>
        <p:txBody>
          <a:bodyPr wrap="square">
            <a:spAutoFit/>
          </a:bodyPr>
          <a:lstStyle/>
          <a:p>
            <a:r>
              <a:rPr lang="en-US" dirty="0"/>
              <a:t>Report 1: Student Performance by Course (with Ranking)</a:t>
            </a:r>
          </a:p>
        </p:txBody>
      </p:sp>
      <p:pic>
        <p:nvPicPr>
          <p:cNvPr id="7" name="Picture 6">
            <a:extLst>
              <a:ext uri="{FF2B5EF4-FFF2-40B4-BE49-F238E27FC236}">
                <a16:creationId xmlns:a16="http://schemas.microsoft.com/office/drawing/2014/main" id="{EEDA1767-1F19-A1F9-2127-FEED88EC2451}"/>
              </a:ext>
            </a:extLst>
          </p:cNvPr>
          <p:cNvPicPr>
            <a:picLocks noChangeAspect="1"/>
          </p:cNvPicPr>
          <p:nvPr/>
        </p:nvPicPr>
        <p:blipFill>
          <a:blip r:embed="rId3"/>
          <a:stretch>
            <a:fillRect/>
          </a:stretch>
        </p:blipFill>
        <p:spPr>
          <a:xfrm>
            <a:off x="295066" y="2170946"/>
            <a:ext cx="6135957" cy="4557250"/>
          </a:xfrm>
          <a:prstGeom prst="rect">
            <a:avLst/>
          </a:prstGeom>
        </p:spPr>
      </p:pic>
      <p:pic>
        <p:nvPicPr>
          <p:cNvPr id="4" name="Picture 3">
            <a:extLst>
              <a:ext uri="{FF2B5EF4-FFF2-40B4-BE49-F238E27FC236}">
                <a16:creationId xmlns:a16="http://schemas.microsoft.com/office/drawing/2014/main" id="{00F4F525-861F-4E67-4130-7A048EFB120B}"/>
              </a:ext>
            </a:extLst>
          </p:cNvPr>
          <p:cNvPicPr>
            <a:picLocks noChangeAspect="1"/>
          </p:cNvPicPr>
          <p:nvPr/>
        </p:nvPicPr>
        <p:blipFill>
          <a:blip r:embed="rId4"/>
          <a:stretch>
            <a:fillRect/>
          </a:stretch>
        </p:blipFill>
        <p:spPr>
          <a:xfrm>
            <a:off x="7026546" y="4181884"/>
            <a:ext cx="5745069" cy="1975136"/>
          </a:xfrm>
          <a:prstGeom prst="rect">
            <a:avLst/>
          </a:prstGeom>
        </p:spPr>
      </p:pic>
      <p:sp>
        <p:nvSpPr>
          <p:cNvPr id="21" name="TextBox 20">
            <a:extLst>
              <a:ext uri="{FF2B5EF4-FFF2-40B4-BE49-F238E27FC236}">
                <a16:creationId xmlns:a16="http://schemas.microsoft.com/office/drawing/2014/main" id="{00A37A2F-080E-24DE-DFC1-0A1B6EA45320}"/>
              </a:ext>
            </a:extLst>
          </p:cNvPr>
          <p:cNvSpPr txBox="1"/>
          <p:nvPr/>
        </p:nvSpPr>
        <p:spPr>
          <a:xfrm>
            <a:off x="6096000" y="4984786"/>
            <a:ext cx="918841" cy="369332"/>
          </a:xfrm>
          <a:prstGeom prst="rect">
            <a:avLst/>
          </a:prstGeom>
          <a:noFill/>
        </p:spPr>
        <p:txBody>
          <a:bodyPr wrap="none" rtlCol="0">
            <a:spAutoFit/>
          </a:bodyPr>
          <a:lstStyle/>
          <a:p>
            <a:r>
              <a:rPr lang="en-CA" dirty="0"/>
              <a:t>Output:</a:t>
            </a:r>
            <a:endParaRPr lang="en-US" dirty="0"/>
          </a:p>
        </p:txBody>
      </p:sp>
    </p:spTree>
    <p:extLst>
      <p:ext uri="{BB962C8B-B14F-4D97-AF65-F5344CB8AC3E}">
        <p14:creationId xmlns:p14="http://schemas.microsoft.com/office/powerpoint/2010/main" val="246656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EEAF-0FC1-CC95-C49D-597CA2C2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4110C-5BA3-07F4-AD67-E1B4272F76E1}"/>
              </a:ext>
            </a:extLst>
          </p:cNvPr>
          <p:cNvSpPr>
            <a:spLocks noGrp="1"/>
          </p:cNvSpPr>
          <p:nvPr>
            <p:ph type="title"/>
          </p:nvPr>
        </p:nvSpPr>
        <p:spPr>
          <a:xfrm>
            <a:off x="858520" y="558392"/>
            <a:ext cx="9156700" cy="587375"/>
          </a:xfrm>
        </p:spPr>
        <p:txBody>
          <a:bodyPr/>
          <a:lstStyle/>
          <a:p>
            <a:r>
              <a:rPr lang="en-US" sz="3200" dirty="0"/>
              <a:t>DQL: Reports and Analysis (Part 1 - University System)</a:t>
            </a:r>
          </a:p>
        </p:txBody>
      </p:sp>
      <p:sp>
        <p:nvSpPr>
          <p:cNvPr id="16" name="TextBox 15">
            <a:extLst>
              <a:ext uri="{FF2B5EF4-FFF2-40B4-BE49-F238E27FC236}">
                <a16:creationId xmlns:a16="http://schemas.microsoft.com/office/drawing/2014/main" id="{30B531D7-8E3A-8203-E0E1-0D06A21D5F0E}"/>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B2ECAD0A-EB4A-127C-3282-F78FB634DDF4}"/>
              </a:ext>
            </a:extLst>
          </p:cNvPr>
          <p:cNvSpPr txBox="1"/>
          <p:nvPr/>
        </p:nvSpPr>
        <p:spPr>
          <a:xfrm>
            <a:off x="2783840" y="1145305"/>
            <a:ext cx="7231380" cy="369332"/>
          </a:xfrm>
          <a:prstGeom prst="rect">
            <a:avLst/>
          </a:prstGeom>
          <a:noFill/>
        </p:spPr>
        <p:txBody>
          <a:bodyPr wrap="square">
            <a:spAutoFit/>
          </a:bodyPr>
          <a:lstStyle/>
          <a:p>
            <a:r>
              <a:rPr lang="en-US" dirty="0"/>
              <a:t>Report 2: Average Grade per Department</a:t>
            </a:r>
          </a:p>
        </p:txBody>
      </p:sp>
      <p:pic>
        <p:nvPicPr>
          <p:cNvPr id="5" name="Picture 4">
            <a:extLst>
              <a:ext uri="{FF2B5EF4-FFF2-40B4-BE49-F238E27FC236}">
                <a16:creationId xmlns:a16="http://schemas.microsoft.com/office/drawing/2014/main" id="{4B2BBD7E-CBDF-171C-A942-2C315ADD3FBA}"/>
              </a:ext>
            </a:extLst>
          </p:cNvPr>
          <p:cNvPicPr>
            <a:picLocks noChangeAspect="1"/>
          </p:cNvPicPr>
          <p:nvPr/>
        </p:nvPicPr>
        <p:blipFill>
          <a:blip r:embed="rId3"/>
          <a:stretch>
            <a:fillRect/>
          </a:stretch>
        </p:blipFill>
        <p:spPr>
          <a:xfrm>
            <a:off x="7130688" y="4543398"/>
            <a:ext cx="4848902" cy="2219635"/>
          </a:xfrm>
          <a:prstGeom prst="rect">
            <a:avLst/>
          </a:prstGeom>
        </p:spPr>
      </p:pic>
      <p:pic>
        <p:nvPicPr>
          <p:cNvPr id="9" name="Picture 8">
            <a:extLst>
              <a:ext uri="{FF2B5EF4-FFF2-40B4-BE49-F238E27FC236}">
                <a16:creationId xmlns:a16="http://schemas.microsoft.com/office/drawing/2014/main" id="{765171F2-727E-7FCB-EDB7-74B619A0311E}"/>
              </a:ext>
            </a:extLst>
          </p:cNvPr>
          <p:cNvPicPr>
            <a:picLocks noChangeAspect="1"/>
          </p:cNvPicPr>
          <p:nvPr/>
        </p:nvPicPr>
        <p:blipFill>
          <a:blip r:embed="rId4"/>
          <a:stretch>
            <a:fillRect/>
          </a:stretch>
        </p:blipFill>
        <p:spPr>
          <a:xfrm>
            <a:off x="559124" y="1739066"/>
            <a:ext cx="6068554" cy="5023967"/>
          </a:xfrm>
          <a:prstGeom prst="rect">
            <a:avLst/>
          </a:prstGeom>
        </p:spPr>
      </p:pic>
      <p:sp>
        <p:nvSpPr>
          <p:cNvPr id="8" name="TextBox 7">
            <a:extLst>
              <a:ext uri="{FF2B5EF4-FFF2-40B4-BE49-F238E27FC236}">
                <a16:creationId xmlns:a16="http://schemas.microsoft.com/office/drawing/2014/main" id="{36235B75-37F7-07B4-473F-D77FEDC7EC15}"/>
              </a:ext>
            </a:extLst>
          </p:cNvPr>
          <p:cNvSpPr txBox="1"/>
          <p:nvPr/>
        </p:nvSpPr>
        <p:spPr>
          <a:xfrm>
            <a:off x="6270058" y="5565612"/>
            <a:ext cx="918841" cy="369332"/>
          </a:xfrm>
          <a:prstGeom prst="rect">
            <a:avLst/>
          </a:prstGeom>
          <a:noFill/>
        </p:spPr>
        <p:txBody>
          <a:bodyPr wrap="none" rtlCol="0">
            <a:spAutoFit/>
          </a:bodyPr>
          <a:lstStyle/>
          <a:p>
            <a:r>
              <a:rPr lang="en-CA" dirty="0"/>
              <a:t>Output:</a:t>
            </a:r>
            <a:endParaRPr lang="en-US" dirty="0"/>
          </a:p>
        </p:txBody>
      </p:sp>
    </p:spTree>
    <p:extLst>
      <p:ext uri="{BB962C8B-B14F-4D97-AF65-F5344CB8AC3E}">
        <p14:creationId xmlns:p14="http://schemas.microsoft.com/office/powerpoint/2010/main" val="1176725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2BEC6-8169-22FB-57E4-9D97C9D31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A7887-3907-F8B9-B388-B2FB0046C3C7}"/>
              </a:ext>
            </a:extLst>
          </p:cNvPr>
          <p:cNvSpPr>
            <a:spLocks noGrp="1"/>
          </p:cNvSpPr>
          <p:nvPr>
            <p:ph type="title"/>
          </p:nvPr>
        </p:nvSpPr>
        <p:spPr>
          <a:xfrm>
            <a:off x="858520" y="558392"/>
            <a:ext cx="9156700" cy="587375"/>
          </a:xfrm>
        </p:spPr>
        <p:txBody>
          <a:bodyPr/>
          <a:lstStyle/>
          <a:p>
            <a:r>
              <a:rPr lang="en-US" sz="3200" dirty="0"/>
              <a:t>DQL: Reports and Analysis (Part 2 - University System)</a:t>
            </a:r>
          </a:p>
        </p:txBody>
      </p:sp>
      <p:sp>
        <p:nvSpPr>
          <p:cNvPr id="16" name="TextBox 15">
            <a:extLst>
              <a:ext uri="{FF2B5EF4-FFF2-40B4-BE49-F238E27FC236}">
                <a16:creationId xmlns:a16="http://schemas.microsoft.com/office/drawing/2014/main" id="{FFDEABEA-AC33-8CDF-B585-6F1A14940B28}"/>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F71C958E-CD92-4E1C-E0C1-FC1FBCEAD526}"/>
              </a:ext>
            </a:extLst>
          </p:cNvPr>
          <p:cNvSpPr txBox="1"/>
          <p:nvPr/>
        </p:nvSpPr>
        <p:spPr>
          <a:xfrm>
            <a:off x="858520" y="1836275"/>
            <a:ext cx="9250680" cy="369332"/>
          </a:xfrm>
          <a:prstGeom prst="rect">
            <a:avLst/>
          </a:prstGeom>
          <a:noFill/>
        </p:spPr>
        <p:txBody>
          <a:bodyPr wrap="square">
            <a:spAutoFit/>
          </a:bodyPr>
          <a:lstStyle/>
          <a:p>
            <a:r>
              <a:rPr lang="sv-SE" dirty="0"/>
              <a:t>Report 3: Enrollment Trends per Semester</a:t>
            </a:r>
          </a:p>
        </p:txBody>
      </p:sp>
      <p:pic>
        <p:nvPicPr>
          <p:cNvPr id="11" name="Picture 10">
            <a:extLst>
              <a:ext uri="{FF2B5EF4-FFF2-40B4-BE49-F238E27FC236}">
                <a16:creationId xmlns:a16="http://schemas.microsoft.com/office/drawing/2014/main" id="{4B46E2ED-8835-8BB7-310C-5406910E6B0D}"/>
              </a:ext>
            </a:extLst>
          </p:cNvPr>
          <p:cNvPicPr>
            <a:picLocks noChangeAspect="1"/>
          </p:cNvPicPr>
          <p:nvPr/>
        </p:nvPicPr>
        <p:blipFill>
          <a:blip r:embed="rId3"/>
          <a:stretch>
            <a:fillRect/>
          </a:stretch>
        </p:blipFill>
        <p:spPr>
          <a:xfrm>
            <a:off x="1015521" y="2205607"/>
            <a:ext cx="7263775" cy="2921507"/>
          </a:xfrm>
          <a:prstGeom prst="rect">
            <a:avLst/>
          </a:prstGeom>
        </p:spPr>
      </p:pic>
      <p:sp>
        <p:nvSpPr>
          <p:cNvPr id="12" name="TextBox 11">
            <a:extLst>
              <a:ext uri="{FF2B5EF4-FFF2-40B4-BE49-F238E27FC236}">
                <a16:creationId xmlns:a16="http://schemas.microsoft.com/office/drawing/2014/main" id="{7F3816B2-CDE0-E005-FD7E-0BE41205D3EF}"/>
              </a:ext>
            </a:extLst>
          </p:cNvPr>
          <p:cNvSpPr txBox="1"/>
          <p:nvPr/>
        </p:nvSpPr>
        <p:spPr>
          <a:xfrm>
            <a:off x="4813335" y="5569079"/>
            <a:ext cx="918841" cy="369332"/>
          </a:xfrm>
          <a:prstGeom prst="rect">
            <a:avLst/>
          </a:prstGeom>
          <a:noFill/>
        </p:spPr>
        <p:txBody>
          <a:bodyPr wrap="none" rtlCol="0">
            <a:spAutoFit/>
          </a:bodyPr>
          <a:lstStyle/>
          <a:p>
            <a:r>
              <a:rPr lang="en-CA" dirty="0"/>
              <a:t>Output:</a:t>
            </a:r>
            <a:endParaRPr lang="en-US" dirty="0"/>
          </a:p>
        </p:txBody>
      </p:sp>
      <p:pic>
        <p:nvPicPr>
          <p:cNvPr id="4" name="Picture 3">
            <a:extLst>
              <a:ext uri="{FF2B5EF4-FFF2-40B4-BE49-F238E27FC236}">
                <a16:creationId xmlns:a16="http://schemas.microsoft.com/office/drawing/2014/main" id="{434F8952-CA8D-A936-A479-EA4D5A5D4597}"/>
              </a:ext>
            </a:extLst>
          </p:cNvPr>
          <p:cNvPicPr>
            <a:picLocks noChangeAspect="1"/>
          </p:cNvPicPr>
          <p:nvPr/>
        </p:nvPicPr>
        <p:blipFill>
          <a:blip r:embed="rId4"/>
          <a:stretch>
            <a:fillRect/>
          </a:stretch>
        </p:blipFill>
        <p:spPr>
          <a:xfrm>
            <a:off x="5837775" y="4881111"/>
            <a:ext cx="5925377" cy="2267266"/>
          </a:xfrm>
          <a:prstGeom prst="rect">
            <a:avLst/>
          </a:prstGeom>
        </p:spPr>
      </p:pic>
    </p:spTree>
    <p:extLst>
      <p:ext uri="{BB962C8B-B14F-4D97-AF65-F5344CB8AC3E}">
        <p14:creationId xmlns:p14="http://schemas.microsoft.com/office/powerpoint/2010/main" val="288307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4A439-A22B-DD76-C5F7-9FBFC5E3B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3B3F5-C3E8-0A75-0F73-C2A63DE67051}"/>
              </a:ext>
            </a:extLst>
          </p:cNvPr>
          <p:cNvSpPr>
            <a:spLocks noGrp="1"/>
          </p:cNvSpPr>
          <p:nvPr>
            <p:ph type="title"/>
          </p:nvPr>
        </p:nvSpPr>
        <p:spPr>
          <a:xfrm>
            <a:off x="858520" y="558392"/>
            <a:ext cx="9156700" cy="587375"/>
          </a:xfrm>
        </p:spPr>
        <p:txBody>
          <a:bodyPr/>
          <a:lstStyle/>
          <a:p>
            <a:r>
              <a:rPr lang="en-US" sz="3200" dirty="0"/>
              <a:t>DQL: Reports and Analysis (Part 2 - University System)</a:t>
            </a:r>
          </a:p>
        </p:txBody>
      </p:sp>
      <p:sp>
        <p:nvSpPr>
          <p:cNvPr id="16" name="TextBox 15">
            <a:extLst>
              <a:ext uri="{FF2B5EF4-FFF2-40B4-BE49-F238E27FC236}">
                <a16:creationId xmlns:a16="http://schemas.microsoft.com/office/drawing/2014/main" id="{B8E33B5F-4A7C-F854-673B-45DEC304DA4A}"/>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6" name="TextBox 5">
            <a:extLst>
              <a:ext uri="{FF2B5EF4-FFF2-40B4-BE49-F238E27FC236}">
                <a16:creationId xmlns:a16="http://schemas.microsoft.com/office/drawing/2014/main" id="{1099B237-D5F2-9940-16F8-AE19F0373F03}"/>
              </a:ext>
            </a:extLst>
          </p:cNvPr>
          <p:cNvSpPr txBox="1"/>
          <p:nvPr/>
        </p:nvSpPr>
        <p:spPr>
          <a:xfrm>
            <a:off x="858520" y="1899688"/>
            <a:ext cx="9250680" cy="369332"/>
          </a:xfrm>
          <a:prstGeom prst="rect">
            <a:avLst/>
          </a:prstGeom>
          <a:noFill/>
        </p:spPr>
        <p:txBody>
          <a:bodyPr wrap="square">
            <a:spAutoFit/>
          </a:bodyPr>
          <a:lstStyle/>
          <a:p>
            <a:r>
              <a:rPr lang="en-US" dirty="0"/>
              <a:t>Report 4: Courses and Their Prerequisites</a:t>
            </a:r>
          </a:p>
        </p:txBody>
      </p:sp>
      <p:pic>
        <p:nvPicPr>
          <p:cNvPr id="12" name="Picture 11">
            <a:extLst>
              <a:ext uri="{FF2B5EF4-FFF2-40B4-BE49-F238E27FC236}">
                <a16:creationId xmlns:a16="http://schemas.microsoft.com/office/drawing/2014/main" id="{9CFDFF24-804D-6D5F-C024-AC788A741130}"/>
              </a:ext>
            </a:extLst>
          </p:cNvPr>
          <p:cNvPicPr>
            <a:picLocks noChangeAspect="1"/>
          </p:cNvPicPr>
          <p:nvPr/>
        </p:nvPicPr>
        <p:blipFill>
          <a:blip r:embed="rId3"/>
          <a:stretch>
            <a:fillRect/>
          </a:stretch>
        </p:blipFill>
        <p:spPr>
          <a:xfrm>
            <a:off x="295728" y="2197302"/>
            <a:ext cx="5800272" cy="3929009"/>
          </a:xfrm>
          <a:prstGeom prst="rect">
            <a:avLst/>
          </a:prstGeom>
        </p:spPr>
      </p:pic>
      <p:sp>
        <p:nvSpPr>
          <p:cNvPr id="9" name="TextBox 8">
            <a:extLst>
              <a:ext uri="{FF2B5EF4-FFF2-40B4-BE49-F238E27FC236}">
                <a16:creationId xmlns:a16="http://schemas.microsoft.com/office/drawing/2014/main" id="{93ECAD95-8EDB-8629-253E-37A9F3956085}"/>
              </a:ext>
            </a:extLst>
          </p:cNvPr>
          <p:cNvSpPr txBox="1"/>
          <p:nvPr/>
        </p:nvSpPr>
        <p:spPr>
          <a:xfrm>
            <a:off x="5607373" y="3909415"/>
            <a:ext cx="918841" cy="369332"/>
          </a:xfrm>
          <a:prstGeom prst="rect">
            <a:avLst/>
          </a:prstGeom>
          <a:noFill/>
        </p:spPr>
        <p:txBody>
          <a:bodyPr wrap="none" rtlCol="0">
            <a:spAutoFit/>
          </a:bodyPr>
          <a:lstStyle/>
          <a:p>
            <a:r>
              <a:rPr lang="en-CA" dirty="0"/>
              <a:t>Output:</a:t>
            </a:r>
            <a:endParaRPr lang="en-US" dirty="0"/>
          </a:p>
        </p:txBody>
      </p:sp>
      <p:pic>
        <p:nvPicPr>
          <p:cNvPr id="10" name="Picture 9">
            <a:extLst>
              <a:ext uri="{FF2B5EF4-FFF2-40B4-BE49-F238E27FC236}">
                <a16:creationId xmlns:a16="http://schemas.microsoft.com/office/drawing/2014/main" id="{02D7A87C-B46C-B66C-D2B1-A92FD0244E5B}"/>
              </a:ext>
            </a:extLst>
          </p:cNvPr>
          <p:cNvPicPr>
            <a:picLocks noChangeAspect="1"/>
          </p:cNvPicPr>
          <p:nvPr/>
        </p:nvPicPr>
        <p:blipFill>
          <a:blip r:embed="rId4"/>
          <a:stretch>
            <a:fillRect/>
          </a:stretch>
        </p:blipFill>
        <p:spPr>
          <a:xfrm>
            <a:off x="5607373" y="4384304"/>
            <a:ext cx="6115904" cy="2191056"/>
          </a:xfrm>
          <a:prstGeom prst="rect">
            <a:avLst/>
          </a:prstGeom>
        </p:spPr>
      </p:pic>
    </p:spTree>
    <p:extLst>
      <p:ext uri="{BB962C8B-B14F-4D97-AF65-F5344CB8AC3E}">
        <p14:creationId xmlns:p14="http://schemas.microsoft.com/office/powerpoint/2010/main" val="2490486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BF208-0EC4-14B8-6FA4-C2A1D13F1D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CDD37-9BB4-7059-30F6-60D5E320C68F}"/>
              </a:ext>
            </a:extLst>
          </p:cNvPr>
          <p:cNvSpPr>
            <a:spLocks noGrp="1"/>
          </p:cNvSpPr>
          <p:nvPr>
            <p:ph type="title"/>
          </p:nvPr>
        </p:nvSpPr>
        <p:spPr>
          <a:xfrm>
            <a:off x="858520" y="558392"/>
            <a:ext cx="9156700" cy="587375"/>
          </a:xfrm>
        </p:spPr>
        <p:txBody>
          <a:bodyPr/>
          <a:lstStyle/>
          <a:p>
            <a:r>
              <a:rPr lang="en-US" sz="3200" dirty="0"/>
              <a:t>Machine Learning Integration</a:t>
            </a:r>
          </a:p>
        </p:txBody>
      </p:sp>
      <p:sp>
        <p:nvSpPr>
          <p:cNvPr id="16" name="TextBox 15">
            <a:extLst>
              <a:ext uri="{FF2B5EF4-FFF2-40B4-BE49-F238E27FC236}">
                <a16:creationId xmlns:a16="http://schemas.microsoft.com/office/drawing/2014/main" id="{283187B6-57D1-23C8-8719-C82496934FF0}"/>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7" name="Rectangle 3">
            <a:extLst>
              <a:ext uri="{FF2B5EF4-FFF2-40B4-BE49-F238E27FC236}">
                <a16:creationId xmlns:a16="http://schemas.microsoft.com/office/drawing/2014/main" id="{7B50575C-E139-AA2F-85FB-70C8DBC07B28}"/>
              </a:ext>
            </a:extLst>
          </p:cNvPr>
          <p:cNvSpPr>
            <a:spLocks noChangeArrowheads="1"/>
          </p:cNvSpPr>
          <p:nvPr/>
        </p:nvSpPr>
        <p:spPr bwMode="auto">
          <a:xfrm>
            <a:off x="1050877" y="1829084"/>
            <a:ext cx="941695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University </a:t>
            </a:r>
            <a:r>
              <a:rPr kumimoji="0" lang="en-US" altLang="en-US" sz="1800" b="0" i="0" u="none" strike="noStrike" cap="none" normalizeH="0" baseline="0" dirty="0">
                <a:ln>
                  <a:noFill/>
                </a:ln>
                <a:solidFill>
                  <a:schemeClr val="tx1"/>
                </a:solidFill>
                <a:effectLst/>
                <a:latin typeface="Arial" panose="020B0604020202020204" pitchFamily="34" charset="0"/>
              </a:rPr>
              <a:t>System Datasets: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Features for Predicting Grades: </a:t>
            </a:r>
            <a:r>
              <a:rPr kumimoji="0" lang="en-US" altLang="en-US" sz="1800" b="0" i="0" u="none" strike="noStrike" cap="none" normalizeH="0" baseline="0" dirty="0" err="1">
                <a:ln>
                  <a:noFill/>
                </a:ln>
                <a:solidFill>
                  <a:schemeClr val="tx1"/>
                </a:solidFill>
                <a:effectLst/>
                <a:latin typeface="Arial" panose="020B0604020202020204" pitchFamily="34" charset="0"/>
              </a:rPr>
              <a:t>student_id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feature_student_avg_gpa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course_name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feature_course_credits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feature_department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Features for At-Risk Students: </a:t>
            </a:r>
            <a:r>
              <a:rPr kumimoji="0" lang="en-US" altLang="en-US" sz="1800" b="0" i="0" u="none" strike="noStrike" cap="none" normalizeH="0" baseline="0" dirty="0" err="1">
                <a:ln>
                  <a:noFill/>
                </a:ln>
                <a:solidFill>
                  <a:schemeClr val="tx1"/>
                </a:solidFill>
                <a:effectLst/>
                <a:latin typeface="Arial" panose="020B0604020202020204" pitchFamily="34" charset="0"/>
              </a:rPr>
              <a:t>student_id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feature_failed_courses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feature_avg_grade_semester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feature_num_enrollments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Features for Course Scheduling: </a:t>
            </a:r>
            <a:r>
              <a:rPr kumimoji="0" lang="en-US" altLang="en-US" sz="1800" b="0" i="0" u="none" strike="noStrike" cap="none" normalizeH="0" baseline="0" dirty="0" err="1">
                <a:ln>
                  <a:noFill/>
                </a:ln>
                <a:solidFill>
                  <a:schemeClr val="tx1"/>
                </a:solidFill>
                <a:effectLst/>
                <a:latin typeface="Arial" panose="020B0604020202020204" pitchFamily="34" charset="0"/>
              </a:rPr>
              <a:t>course_id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feature_enrollment_count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feature_avg_grade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feature_popularity_rank</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Features for Instructor Evaluation: </a:t>
            </a:r>
            <a:r>
              <a:rPr kumimoji="0" lang="en-US" altLang="en-US" sz="1800" b="0" i="0" u="none" strike="noStrike" cap="none" normalizeH="0" baseline="0" dirty="0" err="1">
                <a:ln>
                  <a:noFill/>
                </a:ln>
                <a:solidFill>
                  <a:schemeClr val="tx1"/>
                </a:solidFill>
                <a:effectLst/>
                <a:latin typeface="Arial" panose="020B0604020202020204" pitchFamily="34" charset="0"/>
              </a:rPr>
              <a:t>instructor_id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feature_num_students_taught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feature_avg_grade_given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feature_avg_course_difficulty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Example: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Predict student grades, identify at-risk students, optimize course scheduling, or evaluate instructor performance.</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937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6B93-C3D8-C5AD-A1B0-0698AF7FAB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9499D-CF06-B3F3-1522-48C92F7A9568}"/>
              </a:ext>
            </a:extLst>
          </p:cNvPr>
          <p:cNvSpPr>
            <a:spLocks noGrp="1"/>
          </p:cNvSpPr>
          <p:nvPr>
            <p:ph type="title"/>
          </p:nvPr>
        </p:nvSpPr>
        <p:spPr>
          <a:xfrm>
            <a:off x="858520" y="558392"/>
            <a:ext cx="9156700" cy="587375"/>
          </a:xfrm>
        </p:spPr>
        <p:txBody>
          <a:bodyPr/>
          <a:lstStyle/>
          <a:p>
            <a:r>
              <a:rPr lang="en-US" sz="3200" dirty="0"/>
              <a:t>Conclusion and Next Steps</a:t>
            </a:r>
          </a:p>
        </p:txBody>
      </p:sp>
      <p:sp>
        <p:nvSpPr>
          <p:cNvPr id="16" name="TextBox 15">
            <a:extLst>
              <a:ext uri="{FF2B5EF4-FFF2-40B4-BE49-F238E27FC236}">
                <a16:creationId xmlns:a16="http://schemas.microsoft.com/office/drawing/2014/main" id="{AE33FB45-18CE-0BAF-1173-E6A9C3F0A105}"/>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
        <p:nvSpPr>
          <p:cNvPr id="5" name="Rectangle 2">
            <a:extLst>
              <a:ext uri="{FF2B5EF4-FFF2-40B4-BE49-F238E27FC236}">
                <a16:creationId xmlns:a16="http://schemas.microsoft.com/office/drawing/2014/main" id="{A3CF4035-16E7-2337-374E-ADE5ED9C92DD}"/>
              </a:ext>
            </a:extLst>
          </p:cNvPr>
          <p:cNvSpPr>
            <a:spLocks noChangeArrowheads="1"/>
          </p:cNvSpPr>
          <p:nvPr/>
        </p:nvSpPr>
        <p:spPr bwMode="auto">
          <a:xfrm>
            <a:off x="1014484" y="1803781"/>
            <a:ext cx="782016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Functional university database with 10 tables.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Supports academic operations, machine learning, and additional business analyses.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Next Steps: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Add more tables (e.g., events, libraries).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Implement triggers for automatic updates (e.g., GPA).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Develop a dashboard for data visualization.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7598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12E9E-6696-BA7A-1A9B-CB36A351B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F20FF-7825-E1DE-0B48-50BADF49EC5C}"/>
              </a:ext>
            </a:extLst>
          </p:cNvPr>
          <p:cNvSpPr>
            <a:spLocks noGrp="1"/>
          </p:cNvSpPr>
          <p:nvPr>
            <p:ph type="title"/>
          </p:nvPr>
        </p:nvSpPr>
        <p:spPr>
          <a:xfrm>
            <a:off x="4820600" y="2841625"/>
            <a:ext cx="2550799" cy="587375"/>
          </a:xfrm>
        </p:spPr>
        <p:txBody>
          <a:bodyPr/>
          <a:lstStyle/>
          <a:p>
            <a:r>
              <a:rPr lang="en-US" sz="3200" dirty="0"/>
              <a:t>Thank you!</a:t>
            </a:r>
          </a:p>
        </p:txBody>
      </p:sp>
      <p:sp>
        <p:nvSpPr>
          <p:cNvPr id="16" name="TextBox 15">
            <a:extLst>
              <a:ext uri="{FF2B5EF4-FFF2-40B4-BE49-F238E27FC236}">
                <a16:creationId xmlns:a16="http://schemas.microsoft.com/office/drawing/2014/main" id="{9C656997-E772-CEE0-B78D-D8FD85C13B37}"/>
              </a:ext>
            </a:extLst>
          </p:cNvPr>
          <p:cNvSpPr txBox="1"/>
          <p:nvPr/>
        </p:nvSpPr>
        <p:spPr>
          <a:xfrm flipV="1">
            <a:off x="13446414" y="3855719"/>
            <a:ext cx="1013913" cy="53696"/>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347238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{0513A6C0-F57C-6240-9A89-F4E5EE3852F3}tf16401378</Template>
  <TotalTime>4620</TotalTime>
  <Words>1549</Words>
  <Application>Microsoft Office PowerPoint</Application>
  <PresentationFormat>Widescreen</PresentationFormat>
  <Paragraphs>107</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Times New Roman</vt:lpstr>
      <vt:lpstr>Wingdings</vt:lpstr>
      <vt:lpstr>Office Theme</vt:lpstr>
      <vt:lpstr>PowerPoint Presentation</vt:lpstr>
      <vt:lpstr>University Database System: Design and Implementation</vt:lpstr>
      <vt:lpstr>Project Objective</vt:lpstr>
      <vt:lpstr>System Overview</vt:lpstr>
      <vt:lpstr>ER Diagram</vt:lpstr>
      <vt:lpstr>Database Design: Relationships and Normalization</vt:lpstr>
      <vt:lpstr>DDL: Database Creation</vt:lpstr>
      <vt:lpstr>DML: Data Population</vt:lpstr>
      <vt:lpstr>DQL: Reports and Analysis (Part 1 - University System)</vt:lpstr>
      <vt:lpstr>DQL: Reports and Analysis (Part 1 - University System)</vt:lpstr>
      <vt:lpstr>DQL: Reports and Analysis (Part 2 - University System)</vt:lpstr>
      <vt:lpstr>DQL: Reports and Analysis (Part 2 - University System)</vt:lpstr>
      <vt:lpstr>Machine Learning Integration</vt:lpstr>
      <vt:lpstr>Conclusion and 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dc:title>
  <dc:creator>Ashley Kowal</dc:creator>
  <cp:lastModifiedBy>Bruno De Arantes Leite Sassi</cp:lastModifiedBy>
  <cp:revision>51</cp:revision>
  <dcterms:created xsi:type="dcterms:W3CDTF">2024-01-12T20:35:40Z</dcterms:created>
  <dcterms:modified xsi:type="dcterms:W3CDTF">2025-03-25T04:25:36Z</dcterms:modified>
</cp:coreProperties>
</file>