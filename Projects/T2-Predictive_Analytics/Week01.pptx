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64" r:id="rId6"/>
    <p:sldId id="269" r:id="rId7"/>
    <p:sldId id="268" r:id="rId8"/>
    <p:sldId id="272" r:id="rId9"/>
    <p:sldId id="270" r:id="rId10"/>
    <p:sldId id="267" r:id="rId11"/>
    <p:sldId id="266" r:id="rId12"/>
    <p:sldId id="265" r:id="rId13"/>
    <p:sldId id="273" r:id="rId14"/>
    <p:sldId id="263" r:id="rId15"/>
    <p:sldId id="257" r:id="rId16"/>
    <p:sldId id="258" r:id="rId17"/>
    <p:sldId id="259" r:id="rId18"/>
    <p:sldId id="260" r:id="rId19"/>
    <p:sldId id="261" r:id="rId20"/>
  </p:sldIdLst>
  <p:sldSz cx="18288000" cy="10287000"/>
  <p:notesSz cx="6858000" cy="9144000"/>
  <p:embeddedFontLst>
    <p:embeddedFont>
      <p:font typeface="Playfair Display" panose="00000500000000000000" pitchFamily="2" charset="0"/>
      <p:regular r:id="rId21"/>
      <p:bold r:id="rId22"/>
      <p:italic r:id="rId23"/>
      <p:boldItalic r:id="rId24"/>
    </p:embeddedFont>
    <p:embeddedFont>
      <p:font typeface="Rosario" panose="020B0604020202020204" charset="0"/>
      <p:regular r:id="rId25"/>
    </p:embeddedFont>
    <p:embeddedFont>
      <p:font typeface="Rosario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F81AA-264C-F575-FC62-3D622A1F9B18}" v="2" dt="2025-04-09T14:53:22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u Shree" userId="S::bhanu.shree@unfc.ca::420fb870-9f15-4fe2-84fc-7926444a2d62" providerId="AD" clId="Web-{005F81AA-264C-F575-FC62-3D622A1F9B18}"/>
    <pc:docChg chg="modSld">
      <pc:chgData name="Bhanu Shree" userId="S::bhanu.shree@unfc.ca::420fb870-9f15-4fe2-84fc-7926444a2d62" providerId="AD" clId="Web-{005F81AA-264C-F575-FC62-3D622A1F9B18}" dt="2025-04-09T14:53:22.301" v="1"/>
      <pc:docMkLst>
        <pc:docMk/>
      </pc:docMkLst>
      <pc:sldChg chg="modTransition">
        <pc:chgData name="Bhanu Shree" userId="S::bhanu.shree@unfc.ca::420fb870-9f15-4fe2-84fc-7926444a2d62" providerId="AD" clId="Web-{005F81AA-264C-F575-FC62-3D622A1F9B18}" dt="2025-04-09T14:53:22.301" v="1"/>
        <pc:sldMkLst>
          <pc:docMk/>
          <pc:sldMk cId="0" sldId="257"/>
        </pc:sldMkLst>
      </pc:sldChg>
      <pc:sldChg chg="modTransition">
        <pc:chgData name="Bhanu Shree" userId="S::bhanu.shree@unfc.ca::420fb870-9f15-4fe2-84fc-7926444a2d62" providerId="AD" clId="Web-{005F81AA-264C-F575-FC62-3D622A1F9B18}" dt="2025-04-09T14:53:22.301" v="1"/>
        <pc:sldMkLst>
          <pc:docMk/>
          <pc:sldMk cId="0" sldId="258"/>
        </pc:sldMkLst>
      </pc:sldChg>
      <pc:sldChg chg="modTransition">
        <pc:chgData name="Bhanu Shree" userId="S::bhanu.shree@unfc.ca::420fb870-9f15-4fe2-84fc-7926444a2d62" providerId="AD" clId="Web-{005F81AA-264C-F575-FC62-3D622A1F9B18}" dt="2025-04-09T14:53:22.301" v="1"/>
        <pc:sldMkLst>
          <pc:docMk/>
          <pc:sldMk cId="0" sldId="259"/>
        </pc:sldMkLst>
      </pc:sldChg>
      <pc:sldChg chg="modTransition">
        <pc:chgData name="Bhanu Shree" userId="S::bhanu.shree@unfc.ca::420fb870-9f15-4fe2-84fc-7926444a2d62" providerId="AD" clId="Web-{005F81AA-264C-F575-FC62-3D622A1F9B18}" dt="2025-04-09T14:53:22.301" v="1"/>
        <pc:sldMkLst>
          <pc:docMk/>
          <pc:sldMk cId="0" sldId="260"/>
        </pc:sldMkLst>
      </pc:sldChg>
    </pc:docChg>
  </pc:docChgLst>
  <pc:docChgLst>
    <pc:chgData name="Bhanu Shree" userId="S::bhanu.shree@unfc.ca::420fb870-9f15-4fe2-84fc-7926444a2d62" providerId="AD" clId="Web-{98AD2B2A-6E3B-604A-8CD4-D298D6E5280B}"/>
    <pc:docChg chg="modSld">
      <pc:chgData name="Bhanu Shree" userId="S::bhanu.shree@unfc.ca::420fb870-9f15-4fe2-84fc-7926444a2d62" providerId="AD" clId="Web-{98AD2B2A-6E3B-604A-8CD4-D298D6E5280B}" dt="2025-04-04T13:59:57.510" v="9" actId="1076"/>
      <pc:docMkLst>
        <pc:docMk/>
      </pc:docMkLst>
      <pc:sldChg chg="modSp">
        <pc:chgData name="Bhanu Shree" userId="S::bhanu.shree@unfc.ca::420fb870-9f15-4fe2-84fc-7926444a2d62" providerId="AD" clId="Web-{98AD2B2A-6E3B-604A-8CD4-D298D6E5280B}" dt="2025-04-04T13:59:57.510" v="9" actId="1076"/>
        <pc:sldMkLst>
          <pc:docMk/>
          <pc:sldMk cId="0" sldId="259"/>
        </pc:sldMkLst>
        <pc:spChg chg="mod">
          <ac:chgData name="Bhanu Shree" userId="S::bhanu.shree@unfc.ca::420fb870-9f15-4fe2-84fc-7926444a2d62" providerId="AD" clId="Web-{98AD2B2A-6E3B-604A-8CD4-D298D6E5280B}" dt="2025-04-04T13:59:50.120" v="7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Bhanu Shree" userId="S::bhanu.shree@unfc.ca::420fb870-9f15-4fe2-84fc-7926444a2d62" providerId="AD" clId="Web-{98AD2B2A-6E3B-604A-8CD4-D298D6E5280B}" dt="2025-04-04T13:59:53.276" v="8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Bhanu Shree" userId="S::bhanu.shree@unfc.ca::420fb870-9f15-4fe2-84fc-7926444a2d62" providerId="AD" clId="Web-{98AD2B2A-6E3B-604A-8CD4-D298D6E5280B}" dt="2025-04-04T13:59:57.510" v="9" actId="1076"/>
          <ac:spMkLst>
            <pc:docMk/>
            <pc:sldMk cId="0" sldId="259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10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8.svg"/><Relationship Id="rId7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27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14401800" y="723900"/>
            <a:ext cx="3340180" cy="1013188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2446BB-8763-9E71-BF7B-C211E246C88B}"/>
              </a:ext>
            </a:extLst>
          </p:cNvPr>
          <p:cNvSpPr txBox="1"/>
          <p:nvPr/>
        </p:nvSpPr>
        <p:spPr>
          <a:xfrm>
            <a:off x="5791200" y="4229100"/>
            <a:ext cx="70739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</a:rPr>
              <a:t>Predictive Analytics</a:t>
            </a:r>
            <a:endParaRPr lang="en-CA" sz="6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FBCEC-4DF9-F790-8C6E-55DE44CA2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EF05138D-9120-A8CE-2A04-BB28AEE95645}"/>
              </a:ext>
            </a:extLst>
          </p:cNvPr>
          <p:cNvSpPr/>
          <p:nvPr/>
        </p:nvSpPr>
        <p:spPr>
          <a:xfrm>
            <a:off x="15773400" y="723900"/>
            <a:ext cx="1968580" cy="914400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C5998-4B40-12F0-79C3-DB62AB85D372}"/>
              </a:ext>
            </a:extLst>
          </p:cNvPr>
          <p:cNvSpPr txBox="1"/>
          <p:nvPr/>
        </p:nvSpPr>
        <p:spPr>
          <a:xfrm>
            <a:off x="1752600" y="1638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9BBBF9-8C31-F3DD-5558-41D773F35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20" y="266700"/>
            <a:ext cx="14846380" cy="97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38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BC011-C24A-CC00-9ED9-7B8DCB1FA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7E4890FC-843D-B948-39CE-45C1E4DB6FC2}"/>
              </a:ext>
            </a:extLst>
          </p:cNvPr>
          <p:cNvSpPr/>
          <p:nvPr/>
        </p:nvSpPr>
        <p:spPr>
          <a:xfrm>
            <a:off x="15773400" y="723900"/>
            <a:ext cx="1968580" cy="685800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660D8-52F3-4780-115E-EC287E64A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5300"/>
            <a:ext cx="13246180" cy="902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63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60A64-A156-EB68-BEB9-46A4E925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89DD4579-EC4D-23F2-BAB8-1511B7351FA2}"/>
              </a:ext>
            </a:extLst>
          </p:cNvPr>
          <p:cNvSpPr/>
          <p:nvPr/>
        </p:nvSpPr>
        <p:spPr>
          <a:xfrm>
            <a:off x="15468600" y="723900"/>
            <a:ext cx="2273380" cy="826532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ADCC8-2B6A-FCDA-2F69-BE0E780C5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21" y="419100"/>
            <a:ext cx="13627180" cy="5175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6D91FB-D6C9-980A-DE2B-F2F898A9A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10" y="5584282"/>
            <a:ext cx="13613784" cy="390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0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F33F8-8679-CB9D-2004-77105685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EF42E085-135E-7405-99C3-F1CD1EBC65B2}"/>
              </a:ext>
            </a:extLst>
          </p:cNvPr>
          <p:cNvSpPr/>
          <p:nvPr/>
        </p:nvSpPr>
        <p:spPr>
          <a:xfrm>
            <a:off x="15773400" y="723900"/>
            <a:ext cx="1968580" cy="914400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70B2FC-8949-7EB1-52D1-772BC0691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543"/>
            <a:ext cx="14705506" cy="969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D0626-FBE0-48AA-2815-715449D6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CBB91690-33B4-CBCD-C922-2C68FE6E7878}"/>
              </a:ext>
            </a:extLst>
          </p:cNvPr>
          <p:cNvSpPr/>
          <p:nvPr/>
        </p:nvSpPr>
        <p:spPr>
          <a:xfrm>
            <a:off x="14401800" y="723900"/>
            <a:ext cx="3340180" cy="1013188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CD616-C2E2-C1D0-E245-7AE7470B7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52700"/>
            <a:ext cx="14478000" cy="35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71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0CFD7-9C68-34CD-53C8-1E392A29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7EC2A175-3884-0D62-A7FB-588D9435777C}"/>
              </a:ext>
            </a:extLst>
          </p:cNvPr>
          <p:cNvSpPr/>
          <p:nvPr/>
        </p:nvSpPr>
        <p:spPr>
          <a:xfrm>
            <a:off x="15573375" y="698359"/>
            <a:ext cx="2667000" cy="805934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45D56-F720-6178-989D-859E9FEE0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14026"/>
            <a:ext cx="15319962" cy="783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89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B6A25-557D-27D8-6EDF-34A90E7A8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80744316-C33F-E78F-B60E-4329F20BC360}"/>
              </a:ext>
            </a:extLst>
          </p:cNvPr>
          <p:cNvSpPr/>
          <p:nvPr/>
        </p:nvSpPr>
        <p:spPr>
          <a:xfrm>
            <a:off x="14401800" y="723900"/>
            <a:ext cx="3340180" cy="1013188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5C2BD-3CEC-DD70-0128-8E4095D030CE}"/>
              </a:ext>
            </a:extLst>
          </p:cNvPr>
          <p:cNvSpPr txBox="1"/>
          <p:nvPr/>
        </p:nvSpPr>
        <p:spPr>
          <a:xfrm>
            <a:off x="5334000" y="4381500"/>
            <a:ext cx="617656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Academic Integrity</a:t>
            </a:r>
            <a:endParaRPr lang="en-CA" sz="6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37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15335-2EC8-DBB7-6177-928EF1969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5599458A-D6C3-1F76-31CF-A2B4E73C70C3}"/>
              </a:ext>
            </a:extLst>
          </p:cNvPr>
          <p:cNvSpPr/>
          <p:nvPr/>
        </p:nvSpPr>
        <p:spPr>
          <a:xfrm>
            <a:off x="14401800" y="723900"/>
            <a:ext cx="3340180" cy="1013188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4B084-15A2-E005-3778-4BA629AAB28F}"/>
              </a:ext>
            </a:extLst>
          </p:cNvPr>
          <p:cNvSpPr txBox="1"/>
          <p:nvPr/>
        </p:nvSpPr>
        <p:spPr>
          <a:xfrm>
            <a:off x="2606443" y="4305300"/>
            <a:ext cx="1348721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</a:rPr>
              <a:t>Student Preparation and Participation</a:t>
            </a:r>
            <a:endParaRPr lang="en-CA" sz="6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12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7AFE4-CD46-0DAF-B26F-35536AB8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>
            <a:extLst>
              <a:ext uri="{FF2B5EF4-FFF2-40B4-BE49-F238E27FC236}">
                <a16:creationId xmlns:a16="http://schemas.microsoft.com/office/drawing/2014/main" id="{CF09823B-464A-6546-16E2-4131A8B4F94E}"/>
              </a:ext>
            </a:extLst>
          </p:cNvPr>
          <p:cNvSpPr/>
          <p:nvPr/>
        </p:nvSpPr>
        <p:spPr>
          <a:xfrm>
            <a:off x="14401800" y="723900"/>
            <a:ext cx="3340180" cy="1013188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2C6C00-A06D-91B3-E78A-9EBA1D666660}"/>
              </a:ext>
            </a:extLst>
          </p:cNvPr>
          <p:cNvSpPr txBox="1"/>
          <p:nvPr/>
        </p:nvSpPr>
        <p:spPr>
          <a:xfrm>
            <a:off x="6934200" y="4305300"/>
            <a:ext cx="422442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0070C0"/>
                </a:solidFill>
              </a:rPr>
              <a:t>Attendance</a:t>
            </a:r>
            <a:endParaRPr lang="en-CA" sz="6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14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F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BFF4D-2715-9A01-B949-6E3D13075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81E37D-985B-46E0-73EB-547E124C631F}"/>
              </a:ext>
            </a:extLst>
          </p:cNvPr>
          <p:cNvGrpSpPr/>
          <p:nvPr/>
        </p:nvGrpSpPr>
        <p:grpSpPr>
          <a:xfrm>
            <a:off x="-1844913" y="-2840903"/>
            <a:ext cx="21288346" cy="9223846"/>
            <a:chOff x="0" y="0"/>
            <a:chExt cx="5606807" cy="24293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4460285-7F9D-7DCF-87EB-F2B03B571130}"/>
                </a:ext>
              </a:extLst>
            </p:cNvPr>
            <p:cNvSpPr/>
            <p:nvPr/>
          </p:nvSpPr>
          <p:spPr>
            <a:xfrm>
              <a:off x="0" y="0"/>
              <a:ext cx="5606807" cy="2429326"/>
            </a:xfrm>
            <a:custGeom>
              <a:avLst/>
              <a:gdLst/>
              <a:ahLst/>
              <a:cxnLst/>
              <a:rect l="l" t="t" r="r" b="b"/>
              <a:pathLst>
                <a:path w="5606807" h="2429326">
                  <a:moveTo>
                    <a:pt x="2803404" y="0"/>
                  </a:moveTo>
                  <a:cubicBezTo>
                    <a:pt x="1255127" y="0"/>
                    <a:pt x="0" y="543823"/>
                    <a:pt x="0" y="1214663"/>
                  </a:cubicBezTo>
                  <a:cubicBezTo>
                    <a:pt x="0" y="1885503"/>
                    <a:pt x="1255127" y="2429326"/>
                    <a:pt x="2803404" y="2429326"/>
                  </a:cubicBezTo>
                  <a:cubicBezTo>
                    <a:pt x="4351681" y="2429326"/>
                    <a:pt x="5606807" y="1885503"/>
                    <a:pt x="5606807" y="1214663"/>
                  </a:cubicBezTo>
                  <a:cubicBezTo>
                    <a:pt x="5606807" y="543823"/>
                    <a:pt x="4351681" y="0"/>
                    <a:pt x="2803404" y="0"/>
                  </a:cubicBezTo>
                  <a:close/>
                </a:path>
              </a:pathLst>
            </a:custGeom>
            <a:solidFill>
              <a:srgbClr val="005687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2BBA553-7709-F4CA-8617-0EEEC1EE7072}"/>
                </a:ext>
              </a:extLst>
            </p:cNvPr>
            <p:cNvSpPr txBox="1"/>
            <p:nvPr/>
          </p:nvSpPr>
          <p:spPr>
            <a:xfrm>
              <a:off x="525638" y="180124"/>
              <a:ext cx="4555531" cy="2021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C78D508-8482-B148-DA3B-2A9CA55B23EE}"/>
              </a:ext>
            </a:extLst>
          </p:cNvPr>
          <p:cNvGrpSpPr/>
          <p:nvPr/>
        </p:nvGrpSpPr>
        <p:grpSpPr>
          <a:xfrm>
            <a:off x="2567753" y="2373177"/>
            <a:ext cx="13152494" cy="5540645"/>
            <a:chOff x="0" y="0"/>
            <a:chExt cx="3464031" cy="145926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4B96874-03A3-F77B-B89B-BFE334A04492}"/>
                </a:ext>
              </a:extLst>
            </p:cNvPr>
            <p:cNvSpPr/>
            <p:nvPr/>
          </p:nvSpPr>
          <p:spPr>
            <a:xfrm>
              <a:off x="0" y="0"/>
              <a:ext cx="3464031" cy="1459265"/>
            </a:xfrm>
            <a:custGeom>
              <a:avLst/>
              <a:gdLst/>
              <a:ahLst/>
              <a:cxnLst/>
              <a:rect l="l" t="t" r="r" b="b"/>
              <a:pathLst>
                <a:path w="3464031" h="1459265">
                  <a:moveTo>
                    <a:pt x="58863" y="0"/>
                  </a:moveTo>
                  <a:lnTo>
                    <a:pt x="3405169" y="0"/>
                  </a:lnTo>
                  <a:cubicBezTo>
                    <a:pt x="3420780" y="0"/>
                    <a:pt x="3435752" y="6202"/>
                    <a:pt x="3446791" y="17241"/>
                  </a:cubicBezTo>
                  <a:cubicBezTo>
                    <a:pt x="3457830" y="28279"/>
                    <a:pt x="3464031" y="43251"/>
                    <a:pt x="3464031" y="58863"/>
                  </a:cubicBezTo>
                  <a:lnTo>
                    <a:pt x="3464031" y="1400402"/>
                  </a:lnTo>
                  <a:cubicBezTo>
                    <a:pt x="3464031" y="1432911"/>
                    <a:pt x="3437677" y="1459265"/>
                    <a:pt x="3405169" y="1459265"/>
                  </a:cubicBezTo>
                  <a:lnTo>
                    <a:pt x="58863" y="1459265"/>
                  </a:lnTo>
                  <a:cubicBezTo>
                    <a:pt x="43251" y="1459265"/>
                    <a:pt x="28279" y="1453063"/>
                    <a:pt x="17241" y="1442024"/>
                  </a:cubicBezTo>
                  <a:cubicBezTo>
                    <a:pt x="6202" y="1430985"/>
                    <a:pt x="0" y="1416013"/>
                    <a:pt x="0" y="1400402"/>
                  </a:cubicBezTo>
                  <a:lnTo>
                    <a:pt x="0" y="58863"/>
                  </a:lnTo>
                  <a:cubicBezTo>
                    <a:pt x="0" y="43251"/>
                    <a:pt x="6202" y="28279"/>
                    <a:pt x="17241" y="17241"/>
                  </a:cubicBezTo>
                  <a:cubicBezTo>
                    <a:pt x="28279" y="6202"/>
                    <a:pt x="43251" y="0"/>
                    <a:pt x="588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20C1E0D-1943-D99E-0C97-E5A593742B17}"/>
                </a:ext>
              </a:extLst>
            </p:cNvPr>
            <p:cNvSpPr txBox="1"/>
            <p:nvPr/>
          </p:nvSpPr>
          <p:spPr>
            <a:xfrm>
              <a:off x="0" y="-47625"/>
              <a:ext cx="3464031" cy="1506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32A5223-3DE4-B719-56B8-9736AAE37CB9}"/>
              </a:ext>
            </a:extLst>
          </p:cNvPr>
          <p:cNvSpPr/>
          <p:nvPr/>
        </p:nvSpPr>
        <p:spPr>
          <a:xfrm>
            <a:off x="14496437" y="8211981"/>
            <a:ext cx="3791563" cy="2075019"/>
          </a:xfrm>
          <a:custGeom>
            <a:avLst/>
            <a:gdLst/>
            <a:ahLst/>
            <a:cxnLst/>
            <a:rect l="l" t="t" r="r" b="b"/>
            <a:pathLst>
              <a:path w="3791563" h="2075019">
                <a:moveTo>
                  <a:pt x="0" y="0"/>
                </a:moveTo>
                <a:lnTo>
                  <a:pt x="3791563" y="0"/>
                </a:lnTo>
                <a:lnTo>
                  <a:pt x="3791563" y="2075019"/>
                </a:lnTo>
                <a:lnTo>
                  <a:pt x="0" y="20750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F445ED3-1DBC-9E2E-BBE8-39B83BB2C4C7}"/>
              </a:ext>
            </a:extLst>
          </p:cNvPr>
          <p:cNvSpPr/>
          <p:nvPr/>
        </p:nvSpPr>
        <p:spPr>
          <a:xfrm>
            <a:off x="-205483" y="0"/>
            <a:ext cx="3769915" cy="2063172"/>
          </a:xfrm>
          <a:custGeom>
            <a:avLst/>
            <a:gdLst/>
            <a:ahLst/>
            <a:cxnLst/>
            <a:rect l="l" t="t" r="r" b="b"/>
            <a:pathLst>
              <a:path w="3769915" h="2063172">
                <a:moveTo>
                  <a:pt x="0" y="0"/>
                </a:moveTo>
                <a:lnTo>
                  <a:pt x="3769915" y="0"/>
                </a:lnTo>
                <a:lnTo>
                  <a:pt x="3769915" y="2063172"/>
                </a:lnTo>
                <a:lnTo>
                  <a:pt x="0" y="2063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1F52964-B451-4D01-B445-2DB344B47093}"/>
              </a:ext>
            </a:extLst>
          </p:cNvPr>
          <p:cNvSpPr/>
          <p:nvPr/>
        </p:nvSpPr>
        <p:spPr>
          <a:xfrm rot="-2245481">
            <a:off x="-75761" y="8597054"/>
            <a:ext cx="3010531" cy="2249688"/>
          </a:xfrm>
          <a:custGeom>
            <a:avLst/>
            <a:gdLst/>
            <a:ahLst/>
            <a:cxnLst/>
            <a:rect l="l" t="t" r="r" b="b"/>
            <a:pathLst>
              <a:path w="3010531" h="2249688">
                <a:moveTo>
                  <a:pt x="0" y="0"/>
                </a:moveTo>
                <a:lnTo>
                  <a:pt x="3010531" y="0"/>
                </a:lnTo>
                <a:lnTo>
                  <a:pt x="3010531" y="2249688"/>
                </a:lnTo>
                <a:lnTo>
                  <a:pt x="0" y="22496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3ED83BF-A5A7-D377-D41D-15C63603B5C9}"/>
              </a:ext>
            </a:extLst>
          </p:cNvPr>
          <p:cNvSpPr txBox="1"/>
          <p:nvPr/>
        </p:nvSpPr>
        <p:spPr>
          <a:xfrm>
            <a:off x="3010545" y="2571349"/>
            <a:ext cx="12115631" cy="3130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82"/>
              </a:lnSpc>
            </a:pPr>
            <a:r>
              <a:rPr lang="en-US" sz="10966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COURSE REPRESENTATION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2C421CE-DD3F-FABE-A772-40A2E3023A6C}"/>
              </a:ext>
            </a:extLst>
          </p:cNvPr>
          <p:cNvSpPr txBox="1"/>
          <p:nvPr/>
        </p:nvSpPr>
        <p:spPr>
          <a:xfrm>
            <a:off x="3161824" y="6683266"/>
            <a:ext cx="11964351" cy="802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0"/>
              </a:lnSpc>
            </a:pPr>
            <a:r>
              <a:rPr lang="en-US" sz="4764" b="1">
                <a:solidFill>
                  <a:srgbClr val="000000"/>
                </a:solidFill>
                <a:latin typeface="Rosario Bold"/>
                <a:ea typeface="Rosario Bold"/>
                <a:cs typeface="Rosario Bold"/>
                <a:sym typeface="Rosario Bold"/>
              </a:rPr>
              <a:t>With Student Success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3F170483-F614-16C2-3575-60CF8A0AED99}"/>
              </a:ext>
            </a:extLst>
          </p:cNvPr>
          <p:cNvSpPr/>
          <p:nvPr/>
        </p:nvSpPr>
        <p:spPr>
          <a:xfrm rot="-2245481">
            <a:off x="-75761" y="7810812"/>
            <a:ext cx="3010531" cy="2249688"/>
          </a:xfrm>
          <a:custGeom>
            <a:avLst/>
            <a:gdLst/>
            <a:ahLst/>
            <a:cxnLst/>
            <a:rect l="l" t="t" r="r" b="b"/>
            <a:pathLst>
              <a:path w="3010531" h="2249688">
                <a:moveTo>
                  <a:pt x="0" y="0"/>
                </a:moveTo>
                <a:lnTo>
                  <a:pt x="3010531" y="0"/>
                </a:lnTo>
                <a:lnTo>
                  <a:pt x="3010531" y="2249687"/>
                </a:lnTo>
                <a:lnTo>
                  <a:pt x="0" y="22496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9F3E8582-887B-3D9F-7AF9-202E4E167624}"/>
              </a:ext>
            </a:extLst>
          </p:cNvPr>
          <p:cNvSpPr/>
          <p:nvPr/>
        </p:nvSpPr>
        <p:spPr>
          <a:xfrm rot="-2245481">
            <a:off x="14649538" y="-559742"/>
            <a:ext cx="3010531" cy="2249688"/>
          </a:xfrm>
          <a:custGeom>
            <a:avLst/>
            <a:gdLst/>
            <a:ahLst/>
            <a:cxnLst/>
            <a:rect l="l" t="t" r="r" b="b"/>
            <a:pathLst>
              <a:path w="3010531" h="2249688">
                <a:moveTo>
                  <a:pt x="0" y="0"/>
                </a:moveTo>
                <a:lnTo>
                  <a:pt x="3010531" y="0"/>
                </a:lnTo>
                <a:lnTo>
                  <a:pt x="3010531" y="2249688"/>
                </a:lnTo>
                <a:lnTo>
                  <a:pt x="0" y="2249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1B33B4D-4344-D2B9-80B1-B59EB336D94B}"/>
              </a:ext>
            </a:extLst>
          </p:cNvPr>
          <p:cNvSpPr/>
          <p:nvPr/>
        </p:nvSpPr>
        <p:spPr>
          <a:xfrm rot="-2245481">
            <a:off x="14870171" y="89083"/>
            <a:ext cx="3010531" cy="2249688"/>
          </a:xfrm>
          <a:custGeom>
            <a:avLst/>
            <a:gdLst/>
            <a:ahLst/>
            <a:cxnLst/>
            <a:rect l="l" t="t" r="r" b="b"/>
            <a:pathLst>
              <a:path w="3010531" h="2249688">
                <a:moveTo>
                  <a:pt x="0" y="0"/>
                </a:moveTo>
                <a:lnTo>
                  <a:pt x="3010531" y="0"/>
                </a:lnTo>
                <a:lnTo>
                  <a:pt x="3010531" y="2249688"/>
                </a:lnTo>
                <a:lnTo>
                  <a:pt x="0" y="2249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969AC2E-E5C8-8AEE-8BEA-65886FAD8232}"/>
              </a:ext>
            </a:extLst>
          </p:cNvPr>
          <p:cNvSpPr/>
          <p:nvPr/>
        </p:nvSpPr>
        <p:spPr>
          <a:xfrm>
            <a:off x="7473910" y="8554532"/>
            <a:ext cx="3340180" cy="1013188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9701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6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911442" y="7559273"/>
            <a:ext cx="6552469" cy="5813827"/>
          </a:xfrm>
          <a:custGeom>
            <a:avLst/>
            <a:gdLst/>
            <a:ahLst/>
            <a:cxnLst/>
            <a:rect l="l" t="t" r="r" b="b"/>
            <a:pathLst>
              <a:path w="6552469" h="5813827">
                <a:moveTo>
                  <a:pt x="0" y="0"/>
                </a:moveTo>
                <a:lnTo>
                  <a:pt x="6552469" y="0"/>
                </a:lnTo>
                <a:lnTo>
                  <a:pt x="6552469" y="5813827"/>
                </a:lnTo>
                <a:lnTo>
                  <a:pt x="0" y="5813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11312717" y="-644491"/>
            <a:ext cx="11500716" cy="1150071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t="-25046" b="-25046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6188" y="4460883"/>
            <a:ext cx="8875592" cy="41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Centralizes formative feedback in developing a learning community.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Encourages collaboration between students and instructors.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Creates a safe structure for student feedback.</a:t>
            </a:r>
          </a:p>
          <a:p>
            <a:pPr marL="647697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Enhances communication and provides professional development for students.</a:t>
            </a:r>
          </a:p>
          <a:p>
            <a:pPr marL="0" lvl="0" indent="0" algn="just">
              <a:lnSpc>
                <a:spcPts val="4199"/>
              </a:lnSpc>
            </a:pPr>
            <a:endParaRPr lang="en-US" sz="2999">
              <a:solidFill>
                <a:srgbClr val="FFFFFF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724598"/>
            <a:ext cx="10284017" cy="2125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544"/>
              </a:lnSpc>
            </a:pPr>
            <a:r>
              <a:rPr lang="en-US" sz="6102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IS COURSE REPRESENTATION?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7434092" y="-1685081"/>
            <a:ext cx="4575375" cy="1155559"/>
            <a:chOff x="0" y="0"/>
            <a:chExt cx="1205037" cy="30434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05037" cy="304345"/>
            </a:xfrm>
            <a:custGeom>
              <a:avLst/>
              <a:gdLst/>
              <a:ahLst/>
              <a:cxnLst/>
              <a:rect l="l" t="t" r="r" b="b"/>
              <a:pathLst>
                <a:path w="1205037" h="304345">
                  <a:moveTo>
                    <a:pt x="0" y="0"/>
                  </a:moveTo>
                  <a:lnTo>
                    <a:pt x="1205037" y="0"/>
                  </a:lnTo>
                  <a:lnTo>
                    <a:pt x="1205037" y="304345"/>
                  </a:lnTo>
                  <a:lnTo>
                    <a:pt x="0" y="304345"/>
                  </a:lnTo>
                  <a:close/>
                </a:path>
              </a:pathLst>
            </a:custGeom>
            <a:solidFill>
              <a:srgbClr val="FCCF4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05037" cy="351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2245481">
            <a:off x="236473" y="-212189"/>
            <a:ext cx="1904856" cy="1423447"/>
          </a:xfrm>
          <a:custGeom>
            <a:avLst/>
            <a:gdLst/>
            <a:ahLst/>
            <a:cxnLst/>
            <a:rect l="l" t="t" r="r" b="b"/>
            <a:pathLst>
              <a:path w="1904856" h="1423447">
                <a:moveTo>
                  <a:pt x="0" y="0"/>
                </a:moveTo>
                <a:lnTo>
                  <a:pt x="1904855" y="0"/>
                </a:lnTo>
                <a:lnTo>
                  <a:pt x="1904855" y="1423446"/>
                </a:lnTo>
                <a:lnTo>
                  <a:pt x="0" y="14234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>
          <a:xfrm rot="-2245481">
            <a:off x="324485" y="194095"/>
            <a:ext cx="1904856" cy="1423447"/>
          </a:xfrm>
          <a:custGeom>
            <a:avLst/>
            <a:gdLst/>
            <a:ahLst/>
            <a:cxnLst/>
            <a:rect l="l" t="t" r="r" b="b"/>
            <a:pathLst>
              <a:path w="1904856" h="1423447">
                <a:moveTo>
                  <a:pt x="0" y="0"/>
                </a:moveTo>
                <a:lnTo>
                  <a:pt x="1904855" y="0"/>
                </a:lnTo>
                <a:lnTo>
                  <a:pt x="1904855" y="1423447"/>
                </a:lnTo>
                <a:lnTo>
                  <a:pt x="0" y="14234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-681208" y="11045123"/>
            <a:ext cx="4575375" cy="1155559"/>
            <a:chOff x="0" y="0"/>
            <a:chExt cx="1205037" cy="3043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05037" cy="304345"/>
            </a:xfrm>
            <a:custGeom>
              <a:avLst/>
              <a:gdLst/>
              <a:ahLst/>
              <a:cxnLst/>
              <a:rect l="l" t="t" r="r" b="b"/>
              <a:pathLst>
                <a:path w="1205037" h="304345">
                  <a:moveTo>
                    <a:pt x="0" y="0"/>
                  </a:moveTo>
                  <a:lnTo>
                    <a:pt x="1205037" y="0"/>
                  </a:lnTo>
                  <a:lnTo>
                    <a:pt x="1205037" y="304345"/>
                  </a:lnTo>
                  <a:lnTo>
                    <a:pt x="0" y="304345"/>
                  </a:lnTo>
                  <a:close/>
                </a:path>
              </a:pathLst>
            </a:custGeom>
            <a:solidFill>
              <a:srgbClr val="FCCF4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05037" cy="351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8353720" cy="2030630"/>
            <a:chOff x="0" y="0"/>
            <a:chExt cx="2200157" cy="5348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0157" cy="534816"/>
            </a:xfrm>
            <a:custGeom>
              <a:avLst/>
              <a:gdLst/>
              <a:ahLst/>
              <a:cxnLst/>
              <a:rect l="l" t="t" r="r" b="b"/>
              <a:pathLst>
                <a:path w="2200157" h="534816">
                  <a:moveTo>
                    <a:pt x="47265" y="0"/>
                  </a:moveTo>
                  <a:lnTo>
                    <a:pt x="2152892" y="0"/>
                  </a:lnTo>
                  <a:cubicBezTo>
                    <a:pt x="2165427" y="0"/>
                    <a:pt x="2177449" y="4980"/>
                    <a:pt x="2186313" y="13844"/>
                  </a:cubicBezTo>
                  <a:cubicBezTo>
                    <a:pt x="2195177" y="22707"/>
                    <a:pt x="2200157" y="34729"/>
                    <a:pt x="2200157" y="47265"/>
                  </a:cubicBezTo>
                  <a:lnTo>
                    <a:pt x="2200157" y="487551"/>
                  </a:lnTo>
                  <a:cubicBezTo>
                    <a:pt x="2200157" y="513655"/>
                    <a:pt x="2178995" y="534816"/>
                    <a:pt x="2152892" y="534816"/>
                  </a:cubicBezTo>
                  <a:lnTo>
                    <a:pt x="47265" y="534816"/>
                  </a:lnTo>
                  <a:cubicBezTo>
                    <a:pt x="34729" y="534816"/>
                    <a:pt x="22707" y="529837"/>
                    <a:pt x="13844" y="520973"/>
                  </a:cubicBezTo>
                  <a:cubicBezTo>
                    <a:pt x="4980" y="512109"/>
                    <a:pt x="0" y="500087"/>
                    <a:pt x="0" y="487551"/>
                  </a:cubicBezTo>
                  <a:lnTo>
                    <a:pt x="0" y="47265"/>
                  </a:lnTo>
                  <a:cubicBezTo>
                    <a:pt x="0" y="34729"/>
                    <a:pt x="4980" y="22707"/>
                    <a:pt x="13844" y="13844"/>
                  </a:cubicBezTo>
                  <a:cubicBezTo>
                    <a:pt x="22707" y="4980"/>
                    <a:pt x="34729" y="0"/>
                    <a:pt x="47265" y="0"/>
                  </a:cubicBezTo>
                  <a:close/>
                </a:path>
              </a:pathLst>
            </a:custGeom>
            <a:solidFill>
              <a:srgbClr val="005687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00157" cy="582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56819" y="1164661"/>
            <a:ext cx="6976573" cy="166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62"/>
              </a:lnSpc>
            </a:pPr>
            <a:r>
              <a:rPr lang="en-US" sz="4758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ROLE OF THE COURSE REPRESENTATIVE</a:t>
            </a:r>
          </a:p>
        </p:txBody>
      </p:sp>
      <p:sp>
        <p:nvSpPr>
          <p:cNvPr id="6" name="Freeform 6"/>
          <p:cNvSpPr/>
          <p:nvPr/>
        </p:nvSpPr>
        <p:spPr>
          <a:xfrm>
            <a:off x="-358529" y="2966111"/>
            <a:ext cx="15842393" cy="697464"/>
          </a:xfrm>
          <a:custGeom>
            <a:avLst/>
            <a:gdLst/>
            <a:ahLst/>
            <a:cxnLst/>
            <a:rect l="l" t="t" r="r" b="b"/>
            <a:pathLst>
              <a:path w="15842393" h="697464">
                <a:moveTo>
                  <a:pt x="0" y="0"/>
                </a:moveTo>
                <a:lnTo>
                  <a:pt x="15842393" y="0"/>
                </a:lnTo>
                <a:lnTo>
                  <a:pt x="15842393" y="697464"/>
                </a:lnTo>
                <a:lnTo>
                  <a:pt x="0" y="697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1028700" y="3736877"/>
            <a:ext cx="16110559" cy="5610376"/>
            <a:chOff x="0" y="0"/>
            <a:chExt cx="4243110" cy="14776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243110" cy="1477630"/>
            </a:xfrm>
            <a:custGeom>
              <a:avLst/>
              <a:gdLst/>
              <a:ahLst/>
              <a:cxnLst/>
              <a:rect l="l" t="t" r="r" b="b"/>
              <a:pathLst>
                <a:path w="4243110" h="1477630">
                  <a:moveTo>
                    <a:pt x="24508" y="0"/>
                  </a:moveTo>
                  <a:lnTo>
                    <a:pt x="4218602" y="0"/>
                  </a:lnTo>
                  <a:cubicBezTo>
                    <a:pt x="4225102" y="0"/>
                    <a:pt x="4231336" y="2582"/>
                    <a:pt x="4235932" y="7178"/>
                  </a:cubicBezTo>
                  <a:cubicBezTo>
                    <a:pt x="4240528" y="11774"/>
                    <a:pt x="4243110" y="18008"/>
                    <a:pt x="4243110" y="24508"/>
                  </a:cubicBezTo>
                  <a:lnTo>
                    <a:pt x="4243110" y="1453122"/>
                  </a:lnTo>
                  <a:cubicBezTo>
                    <a:pt x="4243110" y="1459622"/>
                    <a:pt x="4240528" y="1465855"/>
                    <a:pt x="4235932" y="1470452"/>
                  </a:cubicBezTo>
                  <a:cubicBezTo>
                    <a:pt x="4231336" y="1475048"/>
                    <a:pt x="4225102" y="1477630"/>
                    <a:pt x="4218602" y="1477630"/>
                  </a:cubicBezTo>
                  <a:lnTo>
                    <a:pt x="24508" y="1477630"/>
                  </a:lnTo>
                  <a:cubicBezTo>
                    <a:pt x="18008" y="1477630"/>
                    <a:pt x="11774" y="1475048"/>
                    <a:pt x="7178" y="1470452"/>
                  </a:cubicBezTo>
                  <a:cubicBezTo>
                    <a:pt x="2582" y="1465855"/>
                    <a:pt x="0" y="1459622"/>
                    <a:pt x="0" y="1453122"/>
                  </a:cubicBezTo>
                  <a:lnTo>
                    <a:pt x="0" y="24508"/>
                  </a:lnTo>
                  <a:cubicBezTo>
                    <a:pt x="0" y="18008"/>
                    <a:pt x="2582" y="11774"/>
                    <a:pt x="7178" y="7178"/>
                  </a:cubicBezTo>
                  <a:cubicBezTo>
                    <a:pt x="11774" y="2582"/>
                    <a:pt x="18008" y="0"/>
                    <a:pt x="24508" y="0"/>
                  </a:cubicBezTo>
                  <a:close/>
                </a:path>
              </a:pathLst>
            </a:custGeom>
            <a:solidFill>
              <a:srgbClr val="005687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4243110" cy="1525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56819" y="4458121"/>
            <a:ext cx="13895528" cy="420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22" lvl="1" indent="-410211" algn="l">
              <a:lnSpc>
                <a:spcPts val="4142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Attends mandatory Student Leaders Training in Week 4.</a:t>
            </a:r>
          </a:p>
          <a:p>
            <a:pPr marL="820422" lvl="1" indent="-410211" algn="l">
              <a:lnSpc>
                <a:spcPts val="4142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Make their role known to peers.</a:t>
            </a:r>
          </a:p>
          <a:p>
            <a:pPr marL="820422" lvl="1" indent="-410211" algn="l">
              <a:lnSpc>
                <a:spcPts val="4142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Acts as a liaison between the class and the instructor.</a:t>
            </a:r>
          </a:p>
          <a:p>
            <a:pPr marL="820422" lvl="1" indent="-410211" algn="l">
              <a:lnSpc>
                <a:spcPts val="4142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Gathers and communicates feedback from peers.</a:t>
            </a:r>
          </a:p>
          <a:p>
            <a:pPr marL="820422" lvl="1" indent="-410211" algn="l">
              <a:lnSpc>
                <a:spcPts val="4142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Ensures regular information sharing and collaborative decision-making.</a:t>
            </a:r>
          </a:p>
          <a:p>
            <a:pPr marL="820422" lvl="1" indent="-410211" algn="l">
              <a:lnSpc>
                <a:spcPts val="4142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Engage with the Course Representative community on Teams.</a:t>
            </a:r>
          </a:p>
          <a:p>
            <a:pPr marL="0" lvl="0" indent="0" algn="l">
              <a:lnSpc>
                <a:spcPts val="4142"/>
              </a:lnSpc>
            </a:pPr>
            <a:endParaRPr lang="en-US" sz="3800">
              <a:solidFill>
                <a:srgbClr val="FFFFFF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6311239" y="450921"/>
            <a:ext cx="4575375" cy="1155559"/>
            <a:chOff x="0" y="0"/>
            <a:chExt cx="1205037" cy="3043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5037" cy="304345"/>
            </a:xfrm>
            <a:custGeom>
              <a:avLst/>
              <a:gdLst/>
              <a:ahLst/>
              <a:cxnLst/>
              <a:rect l="l" t="t" r="r" b="b"/>
              <a:pathLst>
                <a:path w="1205037" h="304345">
                  <a:moveTo>
                    <a:pt x="0" y="0"/>
                  </a:moveTo>
                  <a:lnTo>
                    <a:pt x="1205037" y="0"/>
                  </a:lnTo>
                  <a:lnTo>
                    <a:pt x="1205037" y="304345"/>
                  </a:lnTo>
                  <a:lnTo>
                    <a:pt x="0" y="304345"/>
                  </a:lnTo>
                  <a:close/>
                </a:path>
              </a:pathLst>
            </a:custGeom>
            <a:solidFill>
              <a:srgbClr val="A6DFF6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05037" cy="351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1019832" y="-1413536"/>
            <a:ext cx="4097064" cy="2242211"/>
          </a:xfrm>
          <a:custGeom>
            <a:avLst/>
            <a:gdLst/>
            <a:ahLst/>
            <a:cxnLst/>
            <a:rect l="l" t="t" r="r" b="b"/>
            <a:pathLst>
              <a:path w="4097064" h="2242211">
                <a:moveTo>
                  <a:pt x="0" y="0"/>
                </a:moveTo>
                <a:lnTo>
                  <a:pt x="4097064" y="0"/>
                </a:lnTo>
                <a:lnTo>
                  <a:pt x="4097064" y="2242211"/>
                </a:lnTo>
                <a:lnTo>
                  <a:pt x="0" y="2242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/>
          <p:cNvSpPr/>
          <p:nvPr/>
        </p:nvSpPr>
        <p:spPr>
          <a:xfrm>
            <a:off x="15483864" y="9715370"/>
            <a:ext cx="4097064" cy="2242211"/>
          </a:xfrm>
          <a:custGeom>
            <a:avLst/>
            <a:gdLst/>
            <a:ahLst/>
            <a:cxnLst/>
            <a:rect l="l" t="t" r="r" b="b"/>
            <a:pathLst>
              <a:path w="4097064" h="2242211">
                <a:moveTo>
                  <a:pt x="0" y="0"/>
                </a:moveTo>
                <a:lnTo>
                  <a:pt x="4097064" y="0"/>
                </a:lnTo>
                <a:lnTo>
                  <a:pt x="4097064" y="2242211"/>
                </a:lnTo>
                <a:lnTo>
                  <a:pt x="0" y="2242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Freeform 16"/>
          <p:cNvSpPr/>
          <p:nvPr/>
        </p:nvSpPr>
        <p:spPr>
          <a:xfrm>
            <a:off x="15870654" y="2966111"/>
            <a:ext cx="1765152" cy="1765152"/>
          </a:xfrm>
          <a:custGeom>
            <a:avLst/>
            <a:gdLst/>
            <a:ahLst/>
            <a:cxnLst/>
            <a:rect l="l" t="t" r="r" b="b"/>
            <a:pathLst>
              <a:path w="1765152" h="1765152">
                <a:moveTo>
                  <a:pt x="0" y="0"/>
                </a:moveTo>
                <a:lnTo>
                  <a:pt x="1765152" y="0"/>
                </a:lnTo>
                <a:lnTo>
                  <a:pt x="1765152" y="1765152"/>
                </a:lnTo>
                <a:lnTo>
                  <a:pt x="0" y="17651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6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22877" y="1032402"/>
            <a:ext cx="9546641" cy="1576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64"/>
              </a:lnSpc>
              <a:spcBef>
                <a:spcPct val="0"/>
              </a:spcBef>
            </a:pPr>
            <a:r>
              <a:rPr lang="en-US" sz="6627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BENEFITS OF COURSE REPRESENTATION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916526" y="3140190"/>
            <a:ext cx="398849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928432" y="3384736"/>
            <a:ext cx="14075039" cy="6229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just">
              <a:lnSpc>
                <a:spcPts val="4899"/>
              </a:lnSpc>
            </a:pPr>
            <a:r>
              <a:rPr lang="en-US" sz="3500" b="1">
                <a:solidFill>
                  <a:srgbClr val="FCCF45"/>
                </a:solidFill>
                <a:latin typeface="Rosario"/>
                <a:ea typeface="Rosario"/>
                <a:cs typeface="Rosario"/>
                <a:sym typeface="Rosario"/>
              </a:rPr>
              <a:t>Student Voice = Superpower</a:t>
            </a:r>
            <a:endParaRPr lang="en-US" sz="3500">
              <a:solidFill>
                <a:srgbClr val="000000"/>
              </a:solidFill>
              <a:latin typeface="Rosario"/>
              <a:ea typeface="Rosario"/>
              <a:cs typeface="Rosario"/>
            </a:endParaRPr>
          </a:p>
          <a:p>
            <a:pPr marL="755015" lvl="1" indent="-377190" algn="just">
              <a:lnSpc>
                <a:spcPts val="4899"/>
              </a:lnSpc>
              <a:buFont typeface="Arial,Sans-Serif"/>
              <a:buChar char="•"/>
            </a:pP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Add</a:t>
            </a:r>
            <a:r>
              <a:rPr lang="en-US" sz="3500" u="none" strike="noStrike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resses issues proactively during the term</a:t>
            </a: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3500" dirty="0">
                <a:solidFill>
                  <a:srgbClr val="00B0F0"/>
                </a:solidFill>
                <a:latin typeface="Rosario"/>
                <a:ea typeface="Rosario"/>
                <a:cs typeface="Rosario"/>
                <a:sym typeface="Rosario"/>
              </a:rPr>
              <a:t>(real-time problem solving)</a:t>
            </a: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.</a:t>
            </a:r>
            <a:endParaRPr lang="en-US" sz="3500" u="none" strike="noStrike" dirty="0">
              <a:solidFill>
                <a:srgbClr val="000000"/>
              </a:solidFill>
              <a:latin typeface="Rosario"/>
              <a:ea typeface="Rosario"/>
              <a:cs typeface="Rosario"/>
            </a:endParaRPr>
          </a:p>
          <a:p>
            <a:pPr marL="755015" lvl="1" indent="-377190" algn="just">
              <a:lnSpc>
                <a:spcPts val="4899"/>
              </a:lnSpc>
              <a:buFont typeface="Arial,Sans-Serif"/>
              <a:buChar char="•"/>
            </a:pPr>
            <a:r>
              <a:rPr lang="en-US" sz="3500" u="none" strike="noStrike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Engages student voices and maintains focus on student learning</a:t>
            </a: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3500" dirty="0">
                <a:solidFill>
                  <a:srgbClr val="00B0F0"/>
                </a:solidFill>
                <a:latin typeface="Rosario"/>
                <a:ea typeface="Rosario"/>
                <a:cs typeface="Rosario"/>
                <a:sym typeface="Rosario"/>
              </a:rPr>
              <a:t>(your voice, center stage)</a:t>
            </a: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.</a:t>
            </a:r>
            <a:endParaRPr lang="en-US" sz="3500" u="none" strike="noStrike" dirty="0">
              <a:solidFill>
                <a:srgbClr val="000000"/>
              </a:solidFill>
              <a:latin typeface="Rosario"/>
              <a:ea typeface="Rosario"/>
              <a:cs typeface="Rosario"/>
            </a:endParaRPr>
          </a:p>
          <a:p>
            <a:pPr marL="755015" lvl="1" indent="-377190" algn="just">
              <a:lnSpc>
                <a:spcPts val="4899"/>
              </a:lnSpc>
              <a:buFont typeface="Arial,Sans-Serif"/>
              <a:buChar char="•"/>
            </a:pPr>
            <a:r>
              <a:rPr lang="en-US" sz="3500" u="none" strike="noStrike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Utilizes student body to address concerns collaboratively</a:t>
            </a: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3500" dirty="0">
                <a:solidFill>
                  <a:srgbClr val="00B0F0"/>
                </a:solidFill>
                <a:latin typeface="Rosario"/>
                <a:ea typeface="Rosario"/>
                <a:cs typeface="Rosario"/>
                <a:sym typeface="Rosario"/>
              </a:rPr>
              <a:t>(collaboration = progress)</a:t>
            </a: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.</a:t>
            </a:r>
            <a:endParaRPr lang="en-US" sz="3500" u="none" strike="noStrike" dirty="0">
              <a:solidFill>
                <a:srgbClr val="000000"/>
              </a:solidFill>
              <a:latin typeface="Rosario"/>
              <a:ea typeface="Rosario"/>
              <a:cs typeface="Rosario"/>
            </a:endParaRPr>
          </a:p>
          <a:p>
            <a:pPr marL="755015" lvl="1" indent="-377190" algn="just">
              <a:lnSpc>
                <a:spcPts val="4899"/>
              </a:lnSpc>
              <a:buFont typeface="Arial,Sans-Serif"/>
              <a:buChar char="•"/>
            </a:pPr>
            <a:r>
              <a:rPr lang="en-US" sz="3500" u="none" strike="noStrike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Integrates feedback into a holistic course evaluation approach</a:t>
            </a: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 </a:t>
            </a:r>
            <a:r>
              <a:rPr lang="en-US" sz="3500" dirty="0">
                <a:solidFill>
                  <a:srgbClr val="00B0F0"/>
                </a:solidFill>
                <a:latin typeface="Rosario"/>
                <a:ea typeface="Rosario"/>
                <a:cs typeface="Rosario"/>
                <a:sym typeface="Rosario"/>
              </a:rPr>
              <a:t>(better feedback = better courses)</a:t>
            </a:r>
            <a:r>
              <a:rPr lang="en-US" sz="3500" dirty="0">
                <a:solidFill>
                  <a:srgbClr val="FFFFFF"/>
                </a:solidFill>
                <a:latin typeface="Rosario"/>
                <a:ea typeface="Rosario"/>
                <a:cs typeface="Rosario"/>
                <a:sym typeface="Rosario"/>
              </a:rPr>
              <a:t>.</a:t>
            </a:r>
            <a:endParaRPr lang="en-US" sz="3500" dirty="0">
              <a:solidFill>
                <a:srgbClr val="000000"/>
              </a:solidFill>
              <a:latin typeface="Rosario"/>
              <a:ea typeface="Rosario"/>
              <a:cs typeface="Rosario"/>
              <a:sym typeface="Rosario"/>
            </a:endParaRPr>
          </a:p>
          <a:p>
            <a:pPr marL="755015" lvl="1" indent="-377190" algn="just">
              <a:lnSpc>
                <a:spcPts val="4899"/>
              </a:lnSpc>
              <a:buFont typeface="Arial"/>
              <a:buChar char="•"/>
            </a:pPr>
            <a:endParaRPr lang="en-US" sz="3450" u="none" strike="noStrike" dirty="0">
              <a:solidFill>
                <a:srgbClr val="FFFFFF"/>
              </a:solidFill>
              <a:latin typeface="Rosario"/>
              <a:ea typeface="Rosario"/>
              <a:cs typeface="Rosario"/>
            </a:endParaRPr>
          </a:p>
        </p:txBody>
      </p:sp>
      <p:grpSp>
        <p:nvGrpSpPr>
          <p:cNvPr id="5" name="Group 5"/>
          <p:cNvGrpSpPr/>
          <p:nvPr/>
        </p:nvGrpSpPr>
        <p:grpSpPr>
          <a:xfrm rot="5400000">
            <a:off x="13857087" y="-1194857"/>
            <a:ext cx="4575375" cy="1155559"/>
            <a:chOff x="0" y="0"/>
            <a:chExt cx="1205037" cy="3043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5037" cy="304345"/>
            </a:xfrm>
            <a:custGeom>
              <a:avLst/>
              <a:gdLst/>
              <a:ahLst/>
              <a:cxnLst/>
              <a:rect l="l" t="t" r="r" b="b"/>
              <a:pathLst>
                <a:path w="1205037" h="304345">
                  <a:moveTo>
                    <a:pt x="0" y="0"/>
                  </a:moveTo>
                  <a:lnTo>
                    <a:pt x="1205037" y="0"/>
                  </a:lnTo>
                  <a:lnTo>
                    <a:pt x="1205037" y="304345"/>
                  </a:lnTo>
                  <a:lnTo>
                    <a:pt x="0" y="304345"/>
                  </a:lnTo>
                  <a:close/>
                </a:path>
              </a:pathLst>
            </a:custGeom>
            <a:solidFill>
              <a:srgbClr val="FCCF4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05037" cy="351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-359256" y="10656592"/>
            <a:ext cx="4575375" cy="1155559"/>
            <a:chOff x="0" y="0"/>
            <a:chExt cx="1205037" cy="3043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05037" cy="304345"/>
            </a:xfrm>
            <a:custGeom>
              <a:avLst/>
              <a:gdLst/>
              <a:ahLst/>
              <a:cxnLst/>
              <a:rect l="l" t="t" r="r" b="b"/>
              <a:pathLst>
                <a:path w="1205037" h="304345">
                  <a:moveTo>
                    <a:pt x="0" y="0"/>
                  </a:moveTo>
                  <a:lnTo>
                    <a:pt x="1205037" y="0"/>
                  </a:lnTo>
                  <a:lnTo>
                    <a:pt x="1205037" y="304345"/>
                  </a:lnTo>
                  <a:lnTo>
                    <a:pt x="0" y="304345"/>
                  </a:lnTo>
                  <a:close/>
                </a:path>
              </a:pathLst>
            </a:custGeom>
            <a:solidFill>
              <a:srgbClr val="FCCF4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05037" cy="351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2245481">
            <a:off x="16724223" y="8686863"/>
            <a:ext cx="1837573" cy="1373168"/>
          </a:xfrm>
          <a:custGeom>
            <a:avLst/>
            <a:gdLst/>
            <a:ahLst/>
            <a:cxnLst/>
            <a:rect l="l" t="t" r="r" b="b"/>
            <a:pathLst>
              <a:path w="1837573" h="1373168">
                <a:moveTo>
                  <a:pt x="0" y="0"/>
                </a:moveTo>
                <a:lnTo>
                  <a:pt x="1837573" y="0"/>
                </a:lnTo>
                <a:lnTo>
                  <a:pt x="1837573" y="1373168"/>
                </a:lnTo>
                <a:lnTo>
                  <a:pt x="0" y="137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Freeform 12"/>
          <p:cNvSpPr/>
          <p:nvPr/>
        </p:nvSpPr>
        <p:spPr>
          <a:xfrm rot="-2245481">
            <a:off x="16724223" y="8260100"/>
            <a:ext cx="1837573" cy="1373168"/>
          </a:xfrm>
          <a:custGeom>
            <a:avLst/>
            <a:gdLst/>
            <a:ahLst/>
            <a:cxnLst/>
            <a:rect l="l" t="t" r="r" b="b"/>
            <a:pathLst>
              <a:path w="1837573" h="1373168">
                <a:moveTo>
                  <a:pt x="0" y="0"/>
                </a:moveTo>
                <a:lnTo>
                  <a:pt x="1837573" y="0"/>
                </a:lnTo>
                <a:lnTo>
                  <a:pt x="1837573" y="1373169"/>
                </a:lnTo>
                <a:lnTo>
                  <a:pt x="0" y="1373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Freeform 13"/>
          <p:cNvSpPr/>
          <p:nvPr/>
        </p:nvSpPr>
        <p:spPr>
          <a:xfrm rot="-2245481">
            <a:off x="16724223" y="7833338"/>
            <a:ext cx="1837573" cy="1373168"/>
          </a:xfrm>
          <a:custGeom>
            <a:avLst/>
            <a:gdLst/>
            <a:ahLst/>
            <a:cxnLst/>
            <a:rect l="l" t="t" r="r" b="b"/>
            <a:pathLst>
              <a:path w="1837573" h="1373168">
                <a:moveTo>
                  <a:pt x="0" y="0"/>
                </a:moveTo>
                <a:lnTo>
                  <a:pt x="1837573" y="0"/>
                </a:lnTo>
                <a:lnTo>
                  <a:pt x="1837573" y="1373168"/>
                </a:lnTo>
                <a:lnTo>
                  <a:pt x="0" y="1373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Freeform 14"/>
          <p:cNvSpPr/>
          <p:nvPr/>
        </p:nvSpPr>
        <p:spPr>
          <a:xfrm rot="-2245481">
            <a:off x="-137262" y="768878"/>
            <a:ext cx="1837573" cy="1373168"/>
          </a:xfrm>
          <a:custGeom>
            <a:avLst/>
            <a:gdLst/>
            <a:ahLst/>
            <a:cxnLst/>
            <a:rect l="l" t="t" r="r" b="b"/>
            <a:pathLst>
              <a:path w="1837573" h="1373168">
                <a:moveTo>
                  <a:pt x="0" y="0"/>
                </a:moveTo>
                <a:lnTo>
                  <a:pt x="1837574" y="0"/>
                </a:lnTo>
                <a:lnTo>
                  <a:pt x="1837574" y="1373169"/>
                </a:lnTo>
                <a:lnTo>
                  <a:pt x="0" y="137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/>
          <p:cNvSpPr/>
          <p:nvPr/>
        </p:nvSpPr>
        <p:spPr>
          <a:xfrm rot="-2245481">
            <a:off x="-137262" y="342116"/>
            <a:ext cx="1837573" cy="1373168"/>
          </a:xfrm>
          <a:custGeom>
            <a:avLst/>
            <a:gdLst/>
            <a:ahLst/>
            <a:cxnLst/>
            <a:rect l="l" t="t" r="r" b="b"/>
            <a:pathLst>
              <a:path w="1837573" h="1373168">
                <a:moveTo>
                  <a:pt x="0" y="0"/>
                </a:moveTo>
                <a:lnTo>
                  <a:pt x="1837574" y="0"/>
                </a:lnTo>
                <a:lnTo>
                  <a:pt x="1837574" y="1373168"/>
                </a:lnTo>
                <a:lnTo>
                  <a:pt x="0" y="1373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Freeform 16"/>
          <p:cNvSpPr/>
          <p:nvPr/>
        </p:nvSpPr>
        <p:spPr>
          <a:xfrm rot="-2245481">
            <a:off x="-137262" y="-84647"/>
            <a:ext cx="1837573" cy="1373168"/>
          </a:xfrm>
          <a:custGeom>
            <a:avLst/>
            <a:gdLst/>
            <a:ahLst/>
            <a:cxnLst/>
            <a:rect l="l" t="t" r="r" b="b"/>
            <a:pathLst>
              <a:path w="1837573" h="1373168">
                <a:moveTo>
                  <a:pt x="0" y="0"/>
                </a:moveTo>
                <a:lnTo>
                  <a:pt x="1837574" y="0"/>
                </a:lnTo>
                <a:lnTo>
                  <a:pt x="1837574" y="1373169"/>
                </a:lnTo>
                <a:lnTo>
                  <a:pt x="0" y="1373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854" y="0"/>
            <a:ext cx="18290854" cy="10288605"/>
          </a:xfrm>
          <a:custGeom>
            <a:avLst/>
            <a:gdLst/>
            <a:ahLst/>
            <a:cxnLst/>
            <a:rect l="l" t="t" r="r" b="b"/>
            <a:pathLst>
              <a:path w="18290854" h="10288605">
                <a:moveTo>
                  <a:pt x="0" y="0"/>
                </a:moveTo>
                <a:lnTo>
                  <a:pt x="18290854" y="0"/>
                </a:lnTo>
                <a:lnTo>
                  <a:pt x="18290854" y="10288605"/>
                </a:lnTo>
                <a:lnTo>
                  <a:pt x="0" y="10288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C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7766215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-7874726" y="-1013569"/>
            <a:ext cx="32871594" cy="8326141"/>
            <a:chOff x="0" y="0"/>
            <a:chExt cx="8657539" cy="21928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57539" cy="2192893"/>
            </a:xfrm>
            <a:custGeom>
              <a:avLst/>
              <a:gdLst/>
              <a:ahLst/>
              <a:cxnLst/>
              <a:rect l="l" t="t" r="r" b="b"/>
              <a:pathLst>
                <a:path w="8657539" h="2192893">
                  <a:moveTo>
                    <a:pt x="4328769" y="0"/>
                  </a:moveTo>
                  <a:cubicBezTo>
                    <a:pt x="1938056" y="0"/>
                    <a:pt x="0" y="490896"/>
                    <a:pt x="0" y="1096446"/>
                  </a:cubicBezTo>
                  <a:cubicBezTo>
                    <a:pt x="0" y="1701997"/>
                    <a:pt x="1938056" y="2192893"/>
                    <a:pt x="4328769" y="2192893"/>
                  </a:cubicBezTo>
                  <a:cubicBezTo>
                    <a:pt x="6719483" y="2192893"/>
                    <a:pt x="8657539" y="1701997"/>
                    <a:pt x="8657539" y="1096446"/>
                  </a:cubicBezTo>
                  <a:cubicBezTo>
                    <a:pt x="8657539" y="490896"/>
                    <a:pt x="6719483" y="0"/>
                    <a:pt x="4328769" y="0"/>
                  </a:cubicBezTo>
                  <a:close/>
                </a:path>
              </a:pathLst>
            </a:custGeom>
            <a:solidFill>
              <a:srgbClr val="005687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11644" y="157959"/>
              <a:ext cx="7034250" cy="18293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FFFFFF"/>
                  </a:solidFill>
                  <a:latin typeface="Rosario Bold"/>
                  <a:ea typeface="Rosario Bold"/>
                  <a:cs typeface="Rosario Bold"/>
                  <a:sym typeface="Rosario Bold"/>
                </a:rPr>
                <a:t>For more information: Bhanu.shree@unfc.ca</a:t>
              </a:r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028700" y="2387841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15168538" y="-246831"/>
            <a:ext cx="3769915" cy="2063172"/>
          </a:xfrm>
          <a:custGeom>
            <a:avLst/>
            <a:gdLst/>
            <a:ahLst/>
            <a:cxnLst/>
            <a:rect l="l" t="t" r="r" b="b"/>
            <a:pathLst>
              <a:path w="3769915" h="2063172">
                <a:moveTo>
                  <a:pt x="0" y="0"/>
                </a:moveTo>
                <a:lnTo>
                  <a:pt x="3769916" y="0"/>
                </a:lnTo>
                <a:lnTo>
                  <a:pt x="3769916" y="2063172"/>
                </a:lnTo>
                <a:lnTo>
                  <a:pt x="0" y="2063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>
            <a:off x="-261287" y="8689734"/>
            <a:ext cx="3769915" cy="2063172"/>
          </a:xfrm>
          <a:custGeom>
            <a:avLst/>
            <a:gdLst/>
            <a:ahLst/>
            <a:cxnLst/>
            <a:rect l="l" t="t" r="r" b="b"/>
            <a:pathLst>
              <a:path w="3769915" h="2063172">
                <a:moveTo>
                  <a:pt x="0" y="0"/>
                </a:moveTo>
                <a:lnTo>
                  <a:pt x="3769915" y="0"/>
                </a:lnTo>
                <a:lnTo>
                  <a:pt x="3769915" y="2063172"/>
                </a:lnTo>
                <a:lnTo>
                  <a:pt x="0" y="20631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9" name="Group 9"/>
          <p:cNvGrpSpPr/>
          <p:nvPr/>
        </p:nvGrpSpPr>
        <p:grpSpPr>
          <a:xfrm>
            <a:off x="-2951704" y="441708"/>
            <a:ext cx="4575375" cy="1155559"/>
            <a:chOff x="0" y="0"/>
            <a:chExt cx="1205037" cy="3043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05037" cy="304345"/>
            </a:xfrm>
            <a:custGeom>
              <a:avLst/>
              <a:gdLst/>
              <a:ahLst/>
              <a:cxnLst/>
              <a:rect l="l" t="t" r="r" b="b"/>
              <a:pathLst>
                <a:path w="1205037" h="304345">
                  <a:moveTo>
                    <a:pt x="0" y="0"/>
                  </a:moveTo>
                  <a:lnTo>
                    <a:pt x="1205037" y="0"/>
                  </a:lnTo>
                  <a:lnTo>
                    <a:pt x="1205037" y="304345"/>
                  </a:lnTo>
                  <a:lnTo>
                    <a:pt x="0" y="304345"/>
                  </a:lnTo>
                  <a:close/>
                </a:path>
              </a:pathLst>
            </a:custGeom>
            <a:solidFill>
              <a:srgbClr val="FCCF45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05037" cy="351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170920" y="8219859"/>
            <a:ext cx="1765152" cy="1765152"/>
          </a:xfrm>
          <a:custGeom>
            <a:avLst/>
            <a:gdLst/>
            <a:ahLst/>
            <a:cxnLst/>
            <a:rect l="l" t="t" r="r" b="b"/>
            <a:pathLst>
              <a:path w="1765152" h="1765152">
                <a:moveTo>
                  <a:pt x="0" y="0"/>
                </a:moveTo>
                <a:lnTo>
                  <a:pt x="1765152" y="0"/>
                </a:lnTo>
                <a:lnTo>
                  <a:pt x="1765152" y="1765152"/>
                </a:lnTo>
                <a:lnTo>
                  <a:pt x="0" y="17651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Freeform 13"/>
          <p:cNvSpPr/>
          <p:nvPr/>
        </p:nvSpPr>
        <p:spPr>
          <a:xfrm>
            <a:off x="7473910" y="8594484"/>
            <a:ext cx="3340180" cy="1013188"/>
          </a:xfrm>
          <a:custGeom>
            <a:avLst/>
            <a:gdLst/>
            <a:ahLst/>
            <a:cxnLst/>
            <a:rect l="l" t="t" r="r" b="b"/>
            <a:pathLst>
              <a:path w="3340180" h="1013188">
                <a:moveTo>
                  <a:pt x="0" y="0"/>
                </a:moveTo>
                <a:lnTo>
                  <a:pt x="3340180" y="0"/>
                </a:lnTo>
                <a:lnTo>
                  <a:pt x="3340180" y="1013188"/>
                </a:lnTo>
                <a:lnTo>
                  <a:pt x="0" y="10131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TextBox 14"/>
          <p:cNvSpPr txBox="1"/>
          <p:nvPr/>
        </p:nvSpPr>
        <p:spPr>
          <a:xfrm>
            <a:off x="5509911" y="3294396"/>
            <a:ext cx="6985638" cy="306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60"/>
              </a:lnSpc>
            </a:pPr>
            <a:r>
              <a:rPr lang="en-US" sz="95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LET'S WORK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DB5F87002A0840B7D44657926647EF" ma:contentTypeVersion="14" ma:contentTypeDescription="Create a new document." ma:contentTypeScope="" ma:versionID="c5af533b0a2cbf986e8cf18224abb000">
  <xsd:schema xmlns:xsd="http://www.w3.org/2001/XMLSchema" xmlns:xs="http://www.w3.org/2001/XMLSchema" xmlns:p="http://schemas.microsoft.com/office/2006/metadata/properties" xmlns:ns2="8316540f-fbc8-4f33-ae2a-6bcfbca4deac" xmlns:ns3="73558801-476c-4853-87f8-3cb9951c3b29" targetNamespace="http://schemas.microsoft.com/office/2006/metadata/properties" ma:root="true" ma:fieldsID="ffa818ccc77cb93bdfd9f1918c282c09" ns2:_="" ns3:_="">
    <xsd:import namespace="8316540f-fbc8-4f33-ae2a-6bcfbca4deac"/>
    <xsd:import namespace="73558801-476c-4853-87f8-3cb9951c3b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6540f-fbc8-4f33-ae2a-6bcfbca4de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c95d3fb-baf3-48f9-acdd-2801d4749b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558801-476c-4853-87f8-3cb9951c3b2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b94edf5-7133-48e7-a47b-0b876c6ceb9e}" ma:internalName="TaxCatchAll" ma:showField="CatchAllData" ma:web="73558801-476c-4853-87f8-3cb9951c3b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3558801-476c-4853-87f8-3cb9951c3b29" xsi:nil="true"/>
    <lcf76f155ced4ddcb4097134ff3c332f xmlns="8316540f-fbc8-4f33-ae2a-6bcfbca4de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EC6C077-42FA-4F65-AFB7-FF48E4F897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16540f-fbc8-4f33-ae2a-6bcfbca4deac"/>
    <ds:schemaRef ds:uri="73558801-476c-4853-87f8-3cb9951c3b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E3E2FD-7450-45DF-B424-5168446EA4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EBCF6C-0674-4631-96FC-B4EDC22BD290}">
  <ds:schemaRefs>
    <ds:schemaRef ds:uri="http://schemas.microsoft.com/office/2006/metadata/properties"/>
    <ds:schemaRef ds:uri="http://schemas.microsoft.com/office/infopath/2007/PartnerControls"/>
    <ds:schemaRef ds:uri="73558801-476c-4853-87f8-3cb9951c3b29"/>
    <ds:schemaRef ds:uri="8316540f-fbc8-4f33-ae2a-6bcfbca4de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184</Words>
  <Application>Microsoft Office PowerPoint</Application>
  <PresentationFormat>Custom</PresentationFormat>
  <Paragraphs>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Playfair Display</vt:lpstr>
      <vt:lpstr>Rosario</vt:lpstr>
      <vt:lpstr>Calibri</vt:lpstr>
      <vt:lpstr>Arial,Sans-Serif</vt:lpstr>
      <vt:lpstr>Rosario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Representative: Class Promo </dc:title>
  <cp:lastModifiedBy>Zeeshan Ahmad</cp:lastModifiedBy>
  <cp:revision>19</cp:revision>
  <dcterms:created xsi:type="dcterms:W3CDTF">2006-08-16T00:00:00Z</dcterms:created>
  <dcterms:modified xsi:type="dcterms:W3CDTF">2025-04-13T18:34:37Z</dcterms:modified>
  <dc:identifier>DAGjnIy4dho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0x01010040DB5F87002A0840B7D44657926647EF</vt:lpwstr>
  </property>
  <property fmtid="{D5CDD505-2E9C-101B-9397-08002B2CF9AE}" pid="3" name="MediaServiceImageTags">
    <vt:lpwstr/>
  </property>
</Properties>
</file>